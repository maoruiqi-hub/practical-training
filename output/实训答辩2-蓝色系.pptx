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2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 showGuides="1">
      <p:cViewPr varScale="1">
        <p:scale>
          <a:sx n="120" d="100"/>
          <a:sy n="120" d="100"/>
        </p:scale>
        <p:origin x="736" y="0"/>
      </p:cViewPr>
      <p:guideLst>
        <p:guide orient="horz" pos="2160"/>
        <p:guide pos="2926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2" Type="http://schemas.openxmlformats.org/officeDocument/2006/relationships/tags" Target="../tags/tag2.xml"/><Relationship Id="rId16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21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-365760" y="-182880"/>
            <a:ext cx="5486400" cy="7315200"/>
          </a:xfrm>
          <a:prstGeom prst="rect">
            <a:avLst/>
          </a:prstGeom>
          <a:solidFill>
            <a:srgbClr val="071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680960" y="0"/>
            <a:ext cx="4846320" cy="6858000"/>
          </a:xfrm>
          <a:prstGeom prst="rect">
            <a:avLst/>
          </a:prstGeom>
          <a:solidFill>
            <a:srgbClr val="061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5394960"/>
            <a:ext cx="12252960" cy="1463040"/>
          </a:xfrm>
          <a:prstGeom prst="rect">
            <a:avLst/>
          </a:prstGeom>
          <a:solidFill>
            <a:srgbClr val="041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Hexagon 5"/>
          <p:cNvSpPr/>
          <p:nvPr/>
        </p:nvSpPr>
        <p:spPr>
          <a:xfrm rot="1800000">
            <a:off x="9326880" y="256032"/>
            <a:ext cx="274320" cy="237744"/>
          </a:xfrm>
          <a:prstGeom prst="hexagon">
            <a:avLst/>
          </a:prstGeom>
          <a:noFill/>
          <a:ln>
            <a:solidFill>
              <a:srgbClr val="66D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Hexagon 6"/>
          <p:cNvSpPr/>
          <p:nvPr/>
        </p:nvSpPr>
        <p:spPr>
          <a:xfrm rot="1800000">
            <a:off x="9582911" y="411480"/>
            <a:ext cx="274320" cy="237744"/>
          </a:xfrm>
          <a:prstGeom prst="hexagon">
            <a:avLst/>
          </a:prstGeom>
          <a:noFill/>
          <a:ln>
            <a:solidFill>
              <a:srgbClr val="66D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Hexagon 7"/>
          <p:cNvSpPr/>
          <p:nvPr/>
        </p:nvSpPr>
        <p:spPr>
          <a:xfrm rot="1800000">
            <a:off x="9838944" y="566928"/>
            <a:ext cx="274320" cy="237744"/>
          </a:xfrm>
          <a:prstGeom prst="hexagon">
            <a:avLst/>
          </a:prstGeom>
          <a:noFill/>
          <a:ln>
            <a:solidFill>
              <a:srgbClr val="66D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Hexagon 8"/>
          <p:cNvSpPr/>
          <p:nvPr/>
        </p:nvSpPr>
        <p:spPr>
          <a:xfrm rot="1800000">
            <a:off x="10094976" y="722376"/>
            <a:ext cx="274320" cy="237744"/>
          </a:xfrm>
          <a:prstGeom prst="hexagon">
            <a:avLst/>
          </a:prstGeom>
          <a:noFill/>
          <a:ln>
            <a:solidFill>
              <a:srgbClr val="66D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Hexagon 9"/>
          <p:cNvSpPr/>
          <p:nvPr/>
        </p:nvSpPr>
        <p:spPr>
          <a:xfrm rot="1800000">
            <a:off x="10351008" y="877824"/>
            <a:ext cx="274320" cy="237744"/>
          </a:xfrm>
          <a:prstGeom prst="hexagon">
            <a:avLst/>
          </a:prstGeom>
          <a:noFill/>
          <a:ln>
            <a:solidFill>
              <a:srgbClr val="66D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Hexagon 10"/>
          <p:cNvSpPr/>
          <p:nvPr/>
        </p:nvSpPr>
        <p:spPr>
          <a:xfrm rot="1800000">
            <a:off x="10607040" y="1033272"/>
            <a:ext cx="274320" cy="237744"/>
          </a:xfrm>
          <a:prstGeom prst="hexagon">
            <a:avLst/>
          </a:prstGeom>
          <a:noFill/>
          <a:ln>
            <a:solidFill>
              <a:srgbClr val="66D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Hexagon 11"/>
          <p:cNvSpPr/>
          <p:nvPr/>
        </p:nvSpPr>
        <p:spPr>
          <a:xfrm rot="1800000">
            <a:off x="10863072" y="1188720"/>
            <a:ext cx="274320" cy="237744"/>
          </a:xfrm>
          <a:prstGeom prst="hexagon">
            <a:avLst/>
          </a:prstGeom>
          <a:noFill/>
          <a:ln>
            <a:solidFill>
              <a:srgbClr val="66D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Hexagon 12"/>
          <p:cNvSpPr/>
          <p:nvPr/>
        </p:nvSpPr>
        <p:spPr>
          <a:xfrm rot="1800000">
            <a:off x="11119104" y="1344168"/>
            <a:ext cx="274320" cy="237744"/>
          </a:xfrm>
          <a:prstGeom prst="hexagon">
            <a:avLst/>
          </a:prstGeom>
          <a:noFill/>
          <a:ln>
            <a:solidFill>
              <a:srgbClr val="66D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Hexagon 13"/>
          <p:cNvSpPr/>
          <p:nvPr/>
        </p:nvSpPr>
        <p:spPr>
          <a:xfrm rot="1800000">
            <a:off x="11375136" y="1499616"/>
            <a:ext cx="274320" cy="237744"/>
          </a:xfrm>
          <a:prstGeom prst="hexagon">
            <a:avLst/>
          </a:prstGeom>
          <a:noFill/>
          <a:ln>
            <a:solidFill>
              <a:srgbClr val="66D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Hexagon 14"/>
          <p:cNvSpPr/>
          <p:nvPr/>
        </p:nvSpPr>
        <p:spPr>
          <a:xfrm rot="1800000">
            <a:off x="11631167" y="1655064"/>
            <a:ext cx="274320" cy="237744"/>
          </a:xfrm>
          <a:prstGeom prst="hexagon">
            <a:avLst/>
          </a:prstGeom>
          <a:noFill/>
          <a:ln>
            <a:solidFill>
              <a:srgbClr val="66D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6" name="Connector 15"/>
          <p:cNvCxnSpPr/>
          <p:nvPr/>
        </p:nvCxnSpPr>
        <p:spPr>
          <a:xfrm flipV="1">
            <a:off x="822960" y="594360"/>
            <a:ext cx="1371600" cy="411480"/>
          </a:xfrm>
          <a:prstGeom prst="line">
            <a:avLst/>
          </a:prstGeom>
          <a:ln w="13970">
            <a:solidFill>
              <a:srgbClr val="78D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194560" y="594360"/>
            <a:ext cx="1280160" cy="822960"/>
          </a:xfrm>
          <a:prstGeom prst="line">
            <a:avLst/>
          </a:prstGeom>
          <a:ln w="13970">
            <a:solidFill>
              <a:srgbClr val="78D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3474720" y="868680"/>
            <a:ext cx="1097280" cy="548640"/>
          </a:xfrm>
          <a:prstGeom prst="line">
            <a:avLst/>
          </a:prstGeom>
          <a:ln w="13970">
            <a:solidFill>
              <a:srgbClr val="78D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572000" y="868680"/>
            <a:ext cx="2560320" cy="365760"/>
          </a:xfrm>
          <a:prstGeom prst="line">
            <a:avLst/>
          </a:prstGeom>
          <a:ln w="13970">
            <a:solidFill>
              <a:srgbClr val="78D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7132320" y="731520"/>
            <a:ext cx="1920240" cy="502920"/>
          </a:xfrm>
          <a:prstGeom prst="line">
            <a:avLst/>
          </a:prstGeom>
          <a:ln w="13970">
            <a:solidFill>
              <a:srgbClr val="78D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052560" y="731520"/>
            <a:ext cx="1554480" cy="548640"/>
          </a:xfrm>
          <a:prstGeom prst="line">
            <a:avLst/>
          </a:prstGeom>
          <a:ln w="13970">
            <a:solidFill>
              <a:srgbClr val="78D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790956" y="973836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162556" y="562356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3442715" y="1385316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539996" y="836675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100316" y="1202436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020556" y="699516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0575036" y="1248156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920" y="384048"/>
            <a:ext cx="274320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AI智慧课程平台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1828800"/>
            <a:ext cx="10058400" cy="12344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3400" b="1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Python编程与数据分析基础智慧课程平台</a:t>
            </a:r>
          </a:p>
          <a:p>
            <a:pPr algn="ctr">
              <a:lnSpc>
                <a:spcPct val="95000"/>
              </a:lnSpc>
            </a:pPr>
            <a:r>
              <a:rPr sz="3400" b="1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课堂游戏化伴随系统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154680" y="3401568"/>
            <a:ext cx="5879592" cy="0"/>
          </a:xfrm>
          <a:prstGeom prst="line">
            <a:avLst/>
          </a:prstGeom>
          <a:ln w="20320">
            <a:solidFill>
              <a:srgbClr val="7BE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971800" y="3584448"/>
            <a:ext cx="6263640" cy="41716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dirty="0" err="1">
                <a:solidFill>
                  <a:srgbClr val="D9E9F6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软件</a:t>
            </a:r>
            <a:r>
              <a:rPr lang="zh-CN" altLang="en-US" sz="1800" b="0" dirty="0">
                <a:solidFill>
                  <a:srgbClr val="D9E9F6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系统开发</a:t>
            </a:r>
            <a:r>
              <a:rPr sz="1800" b="0" dirty="0" err="1">
                <a:solidFill>
                  <a:srgbClr val="D9E9F6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实训项目答辩</a:t>
            </a:r>
            <a:endParaRPr sz="1800" b="0" dirty="0">
              <a:solidFill>
                <a:srgbClr val="D9E9F6"/>
              </a:solidFill>
              <a:latin typeface="Times New Roman" panose="02020603050405020304"/>
              <a:ea typeface="楷体" panose="02010609060101010101" charset="-122"/>
              <a:cs typeface="Times New Roman" panose="020206030504050203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971800" y="4005072"/>
            <a:ext cx="6263640" cy="372281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 dirty="0" err="1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软件学院</a:t>
            </a:r>
            <a:r>
              <a:rPr sz="1500" b="0" dirty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  </a:t>
            </a:r>
            <a:r>
              <a:rPr sz="1500" b="0" dirty="0" err="1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软件工程</a:t>
            </a:r>
            <a:endParaRPr sz="1500" b="0" dirty="0">
              <a:solidFill>
                <a:srgbClr val="FFFFFF"/>
              </a:solidFill>
              <a:latin typeface="Times New Roman" panose="02020603050405020304"/>
              <a:ea typeface="楷体" panose="02010609060101010101" charset="-122"/>
              <a:cs typeface="Times New Roman" panose="020206030504050203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971800" y="4370832"/>
            <a:ext cx="6263640" cy="35734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dirty="0" err="1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指导教师</a:t>
            </a:r>
            <a:r>
              <a:rPr sz="1400" b="0" dirty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：</a:t>
            </a:r>
            <a:r>
              <a:rPr lang="zh-CN" altLang="en-US" sz="1400" b="0" dirty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姜琳颖</a:t>
            </a:r>
            <a:r>
              <a:rPr sz="1400" b="0" dirty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    </a:t>
            </a:r>
            <a:r>
              <a:rPr sz="1400" b="0" dirty="0" err="1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项目成员</a:t>
            </a:r>
            <a:r>
              <a:rPr sz="1400" b="0" dirty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：</a:t>
            </a:r>
            <a:r>
              <a:rPr lang="zh-CN" altLang="en-US" sz="1400" dirty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毛瑞琪、党圣航、黄榆航、张文慧、宋芷萱</a:t>
            </a:r>
            <a:endParaRPr sz="1400" b="0" dirty="0">
              <a:solidFill>
                <a:srgbClr val="FFFFFF"/>
              </a:solidFill>
              <a:latin typeface="Times New Roman" panose="02020603050405020304"/>
              <a:ea typeface="楷体" panose="02010609060101010101" charset="-122"/>
              <a:cs typeface="Times New Roman" panose="02020603050405020304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971800" y="4736592"/>
            <a:ext cx="6263640" cy="32733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dirty="0">
                <a:solidFill>
                  <a:srgbClr val="D9E9F6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2026年7月</a:t>
            </a:r>
            <a:r>
              <a:rPr lang="en-US" sz="1200" b="0" dirty="0">
                <a:solidFill>
                  <a:srgbClr val="D9E9F6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5</a:t>
            </a:r>
            <a:r>
              <a:rPr sz="1200" b="0" dirty="0">
                <a:solidFill>
                  <a:srgbClr val="D9E9F6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69680" y="5303520"/>
            <a:ext cx="2148840" cy="384048"/>
          </a:xfrm>
          <a:prstGeom prst="roundRect">
            <a:avLst/>
          </a:prstGeom>
          <a:solidFill>
            <a:srgbClr val="0B3D91"/>
          </a:solidFill>
          <a:ln w="1397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学习即闯关  成长即升级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0896" y="238252"/>
            <a:ext cx="1417320" cy="384048"/>
          </a:xfrm>
          <a:prstGeom prst="rect">
            <a:avLst/>
          </a:prstGeom>
          <a:solidFill>
            <a:srgbClr val="E8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/>
            <a:r>
              <a:rPr sz="170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项目背景</a:t>
            </a:r>
          </a:p>
        </p:txBody>
      </p:sp>
      <p:sp>
        <p:nvSpPr>
          <p:cNvPr id="3" name="Rectangle 2"/>
          <p:cNvSpPr/>
          <p:nvPr/>
        </p:nvSpPr>
        <p:spPr>
          <a:xfrm>
            <a:off x="1874520" y="200025"/>
            <a:ext cx="5285105" cy="422275"/>
          </a:xfrm>
          <a:prstGeom prst="rect">
            <a:avLst/>
          </a:prstGeom>
          <a:solidFill>
            <a:srgbClr val="FFFFFF"/>
          </a:solidFill>
          <a:ln w="1397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/>
            <a:r>
              <a:rPr sz="200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智慧课程平台的发展现状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-18415" y="772541"/>
            <a:ext cx="7479792" cy="0"/>
          </a:xfrm>
          <a:prstGeom prst="line">
            <a:avLst/>
          </a:prstGeom>
          <a:ln w="2540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0" y="6556248"/>
            <a:ext cx="12191999" cy="301752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 flipV="1">
            <a:off x="-621792" y="6556248"/>
            <a:ext cx="914399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2179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24358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86537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48716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10896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73075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435254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97433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559612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21792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83971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46150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08329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870508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932688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994867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057046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119225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181404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243584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305763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367942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28600" y="6565392"/>
            <a:ext cx="237744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2026年7月4日 星期六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6565392"/>
            <a:ext cx="27432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64040" y="6565392"/>
            <a:ext cx="2514600" cy="2750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 dirty="0" err="1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东北大学</a:t>
            </a:r>
            <a:r>
              <a:rPr lang="zh-CN" altLang="en-US" sz="850" b="0" dirty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软件学院</a:t>
            </a:r>
            <a:endParaRPr sz="850" b="0" dirty="0">
              <a:solidFill>
                <a:srgbClr val="FFFFFF"/>
              </a:solidFill>
              <a:latin typeface="Times New Roman" panose="02020603050405020304"/>
              <a:ea typeface="楷体" panose="02010609060101010101" charset="-122"/>
              <a:cs typeface="Times New Roman" panose="02020603050405020304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567055" y="1234440"/>
            <a:ext cx="6217920" cy="4168775"/>
          </a:xfrm>
          <a:prstGeom prst="roundRect">
            <a:avLst/>
          </a:prstGeom>
          <a:solidFill>
            <a:srgbClr val="E8F3FF"/>
          </a:solidFill>
          <a:ln w="1397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40283" y="1791335"/>
            <a:ext cx="5650992" cy="255587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20202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近年来，智慧课程平台已广泛应用于高校教学，在课程资源管理、学习任务发布、在线测评、学情分析等方面发挥了重要作用，为教师教学管理提供了有力支撑。</a:t>
            </a:r>
          </a:p>
          <a:p>
            <a:pPr algn="l">
              <a:lnSpc>
                <a:spcPct val="140000"/>
              </a:lnSpc>
            </a:pPr>
            <a:endParaRPr sz="1600" b="0">
              <a:solidFill>
                <a:srgbClr val="20202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lnSpc>
                <a:spcPct val="140000"/>
              </a:lnSpc>
            </a:pPr>
            <a:r>
              <a:rPr sz="1600" b="0">
                <a:solidFill>
                  <a:srgbClr val="20202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调研发现，大多数平台更加关注教师端管理，而学生端学习流程仍以“浏览资源—完成任务—提交作业”为主，缺乏持续激励和成长反馈，学生学习兴趣难以长期保持</a:t>
            </a:r>
            <a:r>
              <a:rPr sz="1400" b="0">
                <a:solidFill>
                  <a:srgbClr val="20202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59663" y="4443603"/>
            <a:ext cx="5650992" cy="384048"/>
          </a:xfrm>
          <a:prstGeom prst="roundRect">
            <a:avLst/>
          </a:prstGeom>
          <a:solidFill>
            <a:srgbClr val="0B3D91"/>
          </a:solidFill>
          <a:ln w="1397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重新设计学生学习体验，让学习过程更加主动、连续、有趣。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0" y="1078992"/>
            <a:ext cx="4069080" cy="804672"/>
          </a:xfrm>
          <a:prstGeom prst="roundRect">
            <a:avLst/>
          </a:prstGeom>
          <a:solidFill>
            <a:srgbClr val="D9E9F6"/>
          </a:solidFill>
          <a:ln w="1397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516368" y="1188719"/>
            <a:ext cx="3657600" cy="21945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教师端管理成熟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16368" y="1490472"/>
            <a:ext cx="361188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课程资源、任务、测评与学情分析能力逐步完善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0" y="2130552"/>
            <a:ext cx="4069080" cy="804672"/>
          </a:xfrm>
          <a:prstGeom prst="roundRect">
            <a:avLst/>
          </a:prstGeom>
          <a:solidFill>
            <a:srgbClr val="DCEEFF"/>
          </a:solidFill>
          <a:ln w="1397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516368" y="2240280"/>
            <a:ext cx="3657600" cy="21945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学生端动力不足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16368" y="2542032"/>
            <a:ext cx="361188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学习流程偏任务驱动，缺少持续目标牵引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0" y="3182111"/>
            <a:ext cx="4069080" cy="804672"/>
          </a:xfrm>
          <a:prstGeom prst="roundRect">
            <a:avLst/>
          </a:prstGeom>
          <a:solidFill>
            <a:srgbClr val="F5B47F"/>
          </a:solidFill>
          <a:ln w="1397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516368" y="3291839"/>
            <a:ext cx="3657600" cy="21945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成长反馈滞后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16368" y="3593591"/>
            <a:ext cx="361188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进度、能力与薄弱点难以及时可视化呈现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0" y="4443984"/>
            <a:ext cx="4069080" cy="960120"/>
          </a:xfrm>
          <a:prstGeom prst="roundRect">
            <a:avLst/>
          </a:prstGeom>
          <a:solidFill>
            <a:srgbClr val="0B3D91"/>
          </a:solidFill>
          <a:ln w="1397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结论：平台底层能力已经具备，下一步关键是把学习过程组织成可持续的体验闭环。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0896" y="164592"/>
            <a:ext cx="1417320" cy="384048"/>
          </a:xfrm>
          <a:prstGeom prst="rect">
            <a:avLst/>
          </a:prstGeom>
          <a:solidFill>
            <a:srgbClr val="E8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/>
            <a:r>
              <a:rPr sz="170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需求分析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1874519" y="164592"/>
            <a:ext cx="5285232" cy="384048"/>
          </a:xfrm>
          <a:prstGeom prst="rect">
            <a:avLst/>
          </a:prstGeom>
          <a:solidFill>
            <a:srgbClr val="FFFFFF"/>
          </a:solidFill>
          <a:ln w="1397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/>
            <a:r>
              <a:rPr sz="200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如何真正提升学生学习兴趣？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772541"/>
            <a:ext cx="7479792" cy="0"/>
          </a:xfrm>
          <a:prstGeom prst="line">
            <a:avLst/>
          </a:prstGeom>
          <a:ln w="2540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0" y="6556248"/>
            <a:ext cx="12191999" cy="301752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 flipV="1">
            <a:off x="-621792" y="6556248"/>
            <a:ext cx="914399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2179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24358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86537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48716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10896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73075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435254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97433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559612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21792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83971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46150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08329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870508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932688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994867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057046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119225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181404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243584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305763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367942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28600" y="6565392"/>
            <a:ext cx="237744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2026年7月4日 星期六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6565392"/>
            <a:ext cx="27432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64040" y="6565392"/>
            <a:ext cx="2514600" cy="2750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 dirty="0" err="1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东北大学</a:t>
            </a:r>
            <a:r>
              <a:rPr lang="zh-CN" altLang="en-US" sz="850" dirty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软件学院</a:t>
            </a:r>
            <a:endParaRPr sz="850" b="0" dirty="0">
              <a:solidFill>
                <a:srgbClr val="FFFFFF"/>
              </a:solidFill>
              <a:latin typeface="Times New Roman" panose="02020603050405020304"/>
              <a:ea typeface="楷体" panose="02010609060101010101" charset="-122"/>
              <a:cs typeface="Times New Roman" panose="020206030504050203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12978" y="1119505"/>
            <a:ext cx="6949440" cy="4038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202020"/>
                </a:solidFill>
                <a:latin typeface="黑体" panose="02010609060101010101" charset="-122"/>
                <a:ea typeface="黑体" panose="02010609060101010101" charset="-122"/>
                <a:cs typeface="Times New Roman" panose="02020603050405020304"/>
              </a:rPr>
              <a:t>围绕智慧课程平台，我们提出三个核心需求：</a:t>
            </a:r>
          </a:p>
        </p:txBody>
      </p:sp>
      <p:sp>
        <p:nvSpPr>
          <p:cNvPr id="34" name="Rounded Rectangle 33"/>
          <p:cNvSpPr/>
          <p:nvPr>
            <p:custDataLst>
              <p:tags r:id="rId1"/>
            </p:custDataLst>
          </p:nvPr>
        </p:nvSpPr>
        <p:spPr>
          <a:xfrm>
            <a:off x="676656" y="1742440"/>
            <a:ext cx="3291840" cy="2788920"/>
          </a:xfrm>
          <a:prstGeom prst="roundRect">
            <a:avLst/>
          </a:prstGeom>
          <a:solidFill>
            <a:srgbClr val="E8F3FF"/>
          </a:solidFill>
          <a:ln w="1397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>
            <p:custDataLst>
              <p:tags r:id="rId2"/>
            </p:custDataLst>
          </p:nvPr>
        </p:nvSpPr>
        <p:spPr>
          <a:xfrm>
            <a:off x="877824" y="1952752"/>
            <a:ext cx="804672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800" b="1">
                <a:solidFill>
                  <a:srgbClr val="0B3D91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01</a:t>
            </a:r>
          </a:p>
        </p:txBody>
      </p:sp>
      <p:sp>
        <p:nvSpPr>
          <p:cNvPr id="36" name="TextBox 35"/>
          <p:cNvSpPr txBox="1"/>
          <p:nvPr>
            <p:custDataLst>
              <p:tags r:id="rId3"/>
            </p:custDataLst>
          </p:nvPr>
        </p:nvSpPr>
        <p:spPr>
          <a:xfrm>
            <a:off x="932688" y="2565400"/>
            <a:ext cx="2761488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建立持续学习动力</a:t>
            </a:r>
          </a:p>
        </p:txBody>
      </p:sp>
      <p:cxnSp>
        <p:nvCxnSpPr>
          <p:cNvPr id="37" name="Connector 36"/>
          <p:cNvCxnSpPr/>
          <p:nvPr>
            <p:custDataLst>
              <p:tags r:id="rId4"/>
            </p:custDataLst>
          </p:nvPr>
        </p:nvCxnSpPr>
        <p:spPr>
          <a:xfrm>
            <a:off x="1362456" y="3022600"/>
            <a:ext cx="1920240" cy="0"/>
          </a:xfrm>
          <a:prstGeom prst="line">
            <a:avLst/>
          </a:prstGeom>
          <a:ln w="17780">
            <a:solidFill>
              <a:srgbClr val="2F80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>
            <p:custDataLst>
              <p:tags r:id="rId5"/>
            </p:custDataLst>
          </p:nvPr>
        </p:nvSpPr>
        <p:spPr>
          <a:xfrm>
            <a:off x="1060704" y="3287776"/>
            <a:ext cx="2523744" cy="5969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让学生愿意持续学习，而不是临近截止时间完成任务。</a:t>
            </a:r>
          </a:p>
        </p:txBody>
      </p:sp>
      <p:sp>
        <p:nvSpPr>
          <p:cNvPr id="39" name="Rounded Rectangle 38"/>
          <p:cNvSpPr/>
          <p:nvPr>
            <p:custDataLst>
              <p:tags r:id="rId6"/>
            </p:custDataLst>
          </p:nvPr>
        </p:nvSpPr>
        <p:spPr>
          <a:xfrm>
            <a:off x="4407408" y="1742440"/>
            <a:ext cx="3291840" cy="2788920"/>
          </a:xfrm>
          <a:prstGeom prst="roundRect">
            <a:avLst/>
          </a:prstGeom>
          <a:solidFill>
            <a:srgbClr val="D9E9F6"/>
          </a:solidFill>
          <a:ln w="1397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>
            <p:custDataLst>
              <p:tags r:id="rId7"/>
            </p:custDataLst>
          </p:nvPr>
        </p:nvSpPr>
        <p:spPr>
          <a:xfrm>
            <a:off x="4608576" y="1952752"/>
            <a:ext cx="804672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800" b="1">
                <a:solidFill>
                  <a:srgbClr val="0B3D91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02</a:t>
            </a:r>
          </a:p>
        </p:txBody>
      </p:sp>
      <p:sp>
        <p:nvSpPr>
          <p:cNvPr id="41" name="TextBox 40"/>
          <p:cNvSpPr txBox="1"/>
          <p:nvPr>
            <p:custDataLst>
              <p:tags r:id="rId8"/>
            </p:custDataLst>
          </p:nvPr>
        </p:nvSpPr>
        <p:spPr>
          <a:xfrm>
            <a:off x="4663440" y="2565400"/>
            <a:ext cx="2761488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增强学习反馈</a:t>
            </a:r>
          </a:p>
        </p:txBody>
      </p:sp>
      <p:cxnSp>
        <p:nvCxnSpPr>
          <p:cNvPr id="42" name="Connector 41"/>
          <p:cNvCxnSpPr/>
          <p:nvPr>
            <p:custDataLst>
              <p:tags r:id="rId9"/>
            </p:custDataLst>
          </p:nvPr>
        </p:nvCxnSpPr>
        <p:spPr>
          <a:xfrm>
            <a:off x="5093208" y="3022600"/>
            <a:ext cx="1920240" cy="0"/>
          </a:xfrm>
          <a:prstGeom prst="line">
            <a:avLst/>
          </a:prstGeom>
          <a:ln w="17780">
            <a:solidFill>
              <a:srgbClr val="2F80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>
            <p:custDataLst>
              <p:tags r:id="rId10"/>
            </p:custDataLst>
          </p:nvPr>
        </p:nvSpPr>
        <p:spPr>
          <a:xfrm>
            <a:off x="4781931" y="3226181"/>
            <a:ext cx="2523744" cy="5969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让学习进度、知识掌握情况和能力成长能够实时反馈给学生。</a:t>
            </a:r>
          </a:p>
        </p:txBody>
      </p:sp>
      <p:sp>
        <p:nvSpPr>
          <p:cNvPr id="44" name="Rounded Rectangle 43"/>
          <p:cNvSpPr/>
          <p:nvPr>
            <p:custDataLst>
              <p:tags r:id="rId11"/>
            </p:custDataLst>
          </p:nvPr>
        </p:nvSpPr>
        <p:spPr>
          <a:xfrm>
            <a:off x="8138160" y="1742440"/>
            <a:ext cx="3291840" cy="2788920"/>
          </a:xfrm>
          <a:prstGeom prst="roundRect">
            <a:avLst/>
          </a:prstGeom>
          <a:solidFill>
            <a:srgbClr val="DCEEFF"/>
          </a:solidFill>
          <a:ln w="1397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>
            <p:custDataLst>
              <p:tags r:id="rId12"/>
            </p:custDataLst>
          </p:nvPr>
        </p:nvSpPr>
        <p:spPr>
          <a:xfrm>
            <a:off x="8339328" y="1952752"/>
            <a:ext cx="804672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800" b="1">
                <a:solidFill>
                  <a:srgbClr val="0B3D91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03</a:t>
            </a:r>
          </a:p>
        </p:txBody>
      </p:sp>
      <p:sp>
        <p:nvSpPr>
          <p:cNvPr id="46" name="TextBox 45"/>
          <p:cNvSpPr txBox="1"/>
          <p:nvPr>
            <p:custDataLst>
              <p:tags r:id="rId13"/>
            </p:custDataLst>
          </p:nvPr>
        </p:nvSpPr>
        <p:spPr>
          <a:xfrm>
            <a:off x="8394192" y="2565400"/>
            <a:ext cx="2761488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保持教学流程稳定</a:t>
            </a:r>
          </a:p>
        </p:txBody>
      </p:sp>
      <p:cxnSp>
        <p:nvCxnSpPr>
          <p:cNvPr id="47" name="Connector 46"/>
          <p:cNvCxnSpPr/>
          <p:nvPr>
            <p:custDataLst>
              <p:tags r:id="rId14"/>
            </p:custDataLst>
          </p:nvPr>
        </p:nvCxnSpPr>
        <p:spPr>
          <a:xfrm>
            <a:off x="8823960" y="3022600"/>
            <a:ext cx="1920240" cy="0"/>
          </a:xfrm>
          <a:prstGeom prst="line">
            <a:avLst/>
          </a:prstGeom>
          <a:ln w="17780">
            <a:solidFill>
              <a:srgbClr val="2F80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>
            <p:custDataLst>
              <p:tags r:id="rId15"/>
            </p:custDataLst>
          </p:nvPr>
        </p:nvSpPr>
        <p:spPr>
          <a:xfrm>
            <a:off x="8522208" y="3287776"/>
            <a:ext cx="2523744" cy="5969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教师无需改变现有教学方式，即可接入新的学习激励机制。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13232" y="5061712"/>
            <a:ext cx="10826496" cy="713232"/>
          </a:xfrm>
          <a:prstGeom prst="roundRect">
            <a:avLst/>
          </a:prstGeom>
          <a:solidFill>
            <a:srgbClr val="0B3D91"/>
          </a:solidFill>
          <a:ln w="1397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最终选择：以游戏化设计重新组织学生学习过程，而不是简单增加积分或徽章功能。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0896" y="164592"/>
            <a:ext cx="1417320" cy="384048"/>
          </a:xfrm>
          <a:prstGeom prst="rect">
            <a:avLst/>
          </a:prstGeom>
          <a:solidFill>
            <a:srgbClr val="E8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/>
            <a:r>
              <a:rPr sz="170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创新思路</a:t>
            </a:r>
          </a:p>
        </p:txBody>
      </p:sp>
      <p:sp>
        <p:nvSpPr>
          <p:cNvPr id="3" name="Rectangle 2"/>
          <p:cNvSpPr/>
          <p:nvPr/>
        </p:nvSpPr>
        <p:spPr>
          <a:xfrm>
            <a:off x="1874519" y="164592"/>
            <a:ext cx="5285232" cy="384048"/>
          </a:xfrm>
          <a:prstGeom prst="rect">
            <a:avLst/>
          </a:prstGeom>
          <a:solidFill>
            <a:srgbClr val="FFFFFF"/>
          </a:solidFill>
          <a:ln w="1397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/>
            <a:r>
              <a:rPr sz="200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从游戏获得设计灵感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782701"/>
            <a:ext cx="7479792" cy="0"/>
          </a:xfrm>
          <a:prstGeom prst="line">
            <a:avLst/>
          </a:prstGeom>
          <a:ln w="2540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0" y="6556248"/>
            <a:ext cx="12191999" cy="301752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 flipV="1">
            <a:off x="-621792" y="6556248"/>
            <a:ext cx="914399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2179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24358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86537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48716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10896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73075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435254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97433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559612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21792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83971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46150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08329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870508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932688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994867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057046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119225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181404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243584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305763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367942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28600" y="6565392"/>
            <a:ext cx="237744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2026年7月4日 星期六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6565392"/>
            <a:ext cx="27432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64040" y="6565392"/>
            <a:ext cx="2514600" cy="2750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 dirty="0" err="1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东北大学</a:t>
            </a:r>
            <a:r>
              <a:rPr lang="zh-CN" altLang="en-US" sz="850" dirty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软件学院</a:t>
            </a:r>
            <a:endParaRPr sz="850" b="0" dirty="0">
              <a:solidFill>
                <a:srgbClr val="FFFFFF"/>
              </a:solidFill>
              <a:latin typeface="Times New Roman" panose="02020603050405020304"/>
              <a:ea typeface="楷体" panose="02010609060101010101" charset="-122"/>
              <a:cs typeface="Times New Roman" panose="02020603050405020304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594360" y="1059815"/>
            <a:ext cx="4892040" cy="3703955"/>
          </a:xfrm>
          <a:prstGeom prst="roundRect">
            <a:avLst/>
          </a:prstGeom>
          <a:solidFill>
            <a:srgbClr val="E8F3FF"/>
          </a:solidFill>
          <a:ln w="1397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2960" y="1325880"/>
            <a:ext cx="4434840" cy="221170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40000"/>
              </a:lnSpc>
              <a:buClrTx/>
              <a:buSzTx/>
              <a:buNone/>
            </a:pPr>
            <a:r>
              <a:rPr sz="1600" b="0">
                <a:solidFill>
                  <a:srgbClr val="20202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在方案设计阶段，我们调研了多款具有代表性的成长类游戏，其中《杀戮尖塔》的爬塔推进、路线探索、能力成长和即时反馈机制，为本项目提供了重要启发。</a:t>
            </a:r>
          </a:p>
          <a:p>
            <a:pPr algn="l">
              <a:lnSpc>
                <a:spcPct val="140000"/>
              </a:lnSpc>
              <a:buClrTx/>
              <a:buSzTx/>
              <a:buNone/>
            </a:pPr>
            <a:r>
              <a:rPr sz="1600" b="0">
                <a:solidFill>
                  <a:srgbClr val="20202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真正吸引玩家不断挑战的并不是奖励本身，而是目标明确、反馈及时、成长可见的体验。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" y="3740149"/>
            <a:ext cx="4251960" cy="502920"/>
          </a:xfrm>
          <a:prstGeom prst="roundRect">
            <a:avLst/>
          </a:prstGeom>
          <a:solidFill>
            <a:srgbClr val="0B3D91"/>
          </a:solidFill>
          <a:ln w="1397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理念：课堂游戏化伴随系统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46520" y="1078992"/>
            <a:ext cx="4407408" cy="35844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7438644" y="3584448"/>
            <a:ext cx="2423160" cy="420624"/>
          </a:xfrm>
          <a:prstGeom prst="roundRect">
            <a:avLst/>
          </a:prstGeom>
          <a:solidFill>
            <a:srgbClr val="F5B47F"/>
          </a:solidFill>
          <a:ln w="1397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/>
            <a:r>
              <a:rPr sz="125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Boss测评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44384" y="2971800"/>
            <a:ext cx="2011680" cy="420624"/>
          </a:xfrm>
          <a:prstGeom prst="roundRect">
            <a:avLst/>
          </a:prstGeom>
          <a:solidFill>
            <a:srgbClr val="DCEEFF"/>
          </a:solidFill>
          <a:ln w="1397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/>
            <a:r>
              <a:rPr sz="125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关卡挑战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850124" y="2359152"/>
            <a:ext cx="1600200" cy="420624"/>
          </a:xfrm>
          <a:prstGeom prst="roundRect">
            <a:avLst/>
          </a:prstGeom>
          <a:solidFill>
            <a:srgbClr val="DCEEFF"/>
          </a:solidFill>
          <a:ln w="1397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/>
            <a:r>
              <a:rPr sz="125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知识点学习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6720" y="1746504"/>
            <a:ext cx="1207008" cy="420624"/>
          </a:xfrm>
          <a:prstGeom prst="roundRect">
            <a:avLst/>
          </a:prstGeom>
          <a:solidFill>
            <a:srgbClr val="DCEEFF"/>
          </a:solidFill>
          <a:ln w="1397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/>
            <a:r>
              <a:rPr sz="125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学习塔</a:t>
            </a:r>
          </a:p>
        </p:txBody>
      </p:sp>
      <p:sp>
        <p:nvSpPr>
          <p:cNvPr id="41" name="Isosceles Triangle 40"/>
          <p:cNvSpPr/>
          <p:nvPr/>
        </p:nvSpPr>
        <p:spPr>
          <a:xfrm>
            <a:off x="7936992" y="1252728"/>
            <a:ext cx="1426464" cy="566928"/>
          </a:xfrm>
          <a:prstGeom prst="triangle">
            <a:avLst/>
          </a:prstGeom>
          <a:solidFill>
            <a:srgbClr val="2F80ED"/>
          </a:solidFill>
          <a:ln w="1270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055864" y="1389888"/>
            <a:ext cx="118872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成长路径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656832" y="1325880"/>
            <a:ext cx="1051560" cy="320040"/>
          </a:xfrm>
          <a:prstGeom prst="roundRect">
            <a:avLst/>
          </a:prstGeom>
          <a:solidFill>
            <a:srgbClr val="D9E9F6"/>
          </a:solidFill>
          <a:ln w="13970">
            <a:solidFill>
              <a:srgbClr val="071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/>
            <a:r>
              <a:rPr sz="105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目标明确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528048" y="1325880"/>
            <a:ext cx="1051560" cy="320040"/>
          </a:xfrm>
          <a:prstGeom prst="roundRect">
            <a:avLst/>
          </a:prstGeom>
          <a:solidFill>
            <a:srgbClr val="D9E9F6"/>
          </a:solidFill>
          <a:ln w="13970">
            <a:solidFill>
              <a:srgbClr val="071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/>
            <a:r>
              <a:rPr sz="105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路线探索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56832" y="4242816"/>
            <a:ext cx="1051560" cy="320040"/>
          </a:xfrm>
          <a:prstGeom prst="roundRect">
            <a:avLst/>
          </a:prstGeom>
          <a:solidFill>
            <a:srgbClr val="D9E9F6"/>
          </a:solidFill>
          <a:ln w="13970">
            <a:solidFill>
              <a:srgbClr val="071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/>
            <a:r>
              <a:rPr sz="105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即时反馈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528048" y="4242816"/>
            <a:ext cx="1051560" cy="320040"/>
          </a:xfrm>
          <a:prstGeom prst="roundRect">
            <a:avLst/>
          </a:prstGeom>
          <a:solidFill>
            <a:srgbClr val="D9E9F6"/>
          </a:solidFill>
          <a:ln w="13970">
            <a:solidFill>
              <a:srgbClr val="071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/>
            <a:r>
              <a:rPr sz="105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成长可见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13232" y="5193792"/>
            <a:ext cx="10826496" cy="512064"/>
          </a:xfrm>
          <a:prstGeom prst="roundRect">
            <a:avLst/>
          </a:prstGeom>
          <a:solidFill>
            <a:srgbClr val="0B3D91"/>
          </a:solidFill>
          <a:ln w="1397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实现目标：将智慧课程映射为爬塔式学习体验，让“学习即闯关、成长即升级”。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0896" y="164592"/>
            <a:ext cx="1444752" cy="384048"/>
          </a:xfrm>
          <a:prstGeom prst="rect">
            <a:avLst/>
          </a:prstGeom>
          <a:solidFill>
            <a:srgbClr val="E8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70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开发路线</a:t>
            </a:r>
          </a:p>
        </p:txBody>
      </p:sp>
      <p:sp>
        <p:nvSpPr>
          <p:cNvPr id="3" name="Rectangle 2"/>
          <p:cNvSpPr/>
          <p:nvPr/>
        </p:nvSpPr>
        <p:spPr>
          <a:xfrm>
            <a:off x="1901952" y="164592"/>
            <a:ext cx="5358384" cy="384048"/>
          </a:xfrm>
          <a:prstGeom prst="rect">
            <a:avLst/>
          </a:prstGeom>
          <a:solidFill>
            <a:srgbClr val="FFFFFF"/>
          </a:solidFill>
          <a:ln w="1397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l"/>
            <a:r>
              <a:rPr sz="200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从需求到产品的开发流程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676656"/>
            <a:ext cx="7479792" cy="0"/>
          </a:xfrm>
          <a:prstGeom prst="line">
            <a:avLst/>
          </a:prstGeom>
          <a:ln w="2540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0" y="6556248"/>
            <a:ext cx="12191999" cy="301752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 flipV="1">
            <a:off x="-621792" y="6556248"/>
            <a:ext cx="914399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2179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24358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86537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48716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10896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73075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435254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97433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559612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21792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83971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46150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08329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870508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932688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994867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057046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119225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181404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243584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305763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367942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28600" y="6565392"/>
            <a:ext cx="2514600" cy="20116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2026年7月4日 星期六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6565392"/>
            <a:ext cx="320040" cy="20116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6582107"/>
            <a:ext cx="2651760" cy="16773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/>
            <a:r>
              <a:rPr sz="850" b="0" dirty="0" err="1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东北大学</a:t>
            </a:r>
            <a:r>
              <a:rPr lang="zh-CN" altLang="en-US" sz="850" dirty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软件学院</a:t>
            </a:r>
            <a:endParaRPr sz="850" b="0" dirty="0">
              <a:solidFill>
                <a:srgbClr val="FFFFFF"/>
              </a:solidFill>
              <a:latin typeface="Times New Roman" panose="02020603050405020304"/>
              <a:ea typeface="楷体" panose="02010609060101010101" charset="-122"/>
              <a:cs typeface="Times New Roman" panose="02020603050405020304"/>
            </a:endParaRP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C4E15FA7-2008-E6B8-2DBE-4356E532F5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" y="377953"/>
            <a:ext cx="12192000" cy="647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0896" y="164592"/>
            <a:ext cx="1444752" cy="384048"/>
          </a:xfrm>
          <a:prstGeom prst="rect">
            <a:avLst/>
          </a:prstGeom>
          <a:solidFill>
            <a:srgbClr val="E8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70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底层建设</a:t>
            </a:r>
          </a:p>
        </p:txBody>
      </p:sp>
      <p:sp>
        <p:nvSpPr>
          <p:cNvPr id="3" name="Rectangle 2"/>
          <p:cNvSpPr/>
          <p:nvPr/>
        </p:nvSpPr>
        <p:spPr>
          <a:xfrm>
            <a:off x="1901952" y="164592"/>
            <a:ext cx="5358384" cy="384048"/>
          </a:xfrm>
          <a:prstGeom prst="rect">
            <a:avLst/>
          </a:prstGeom>
          <a:solidFill>
            <a:srgbClr val="FFFFFF"/>
          </a:solidFill>
          <a:ln w="1397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l"/>
            <a:r>
              <a:rPr sz="200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五大核心业务模块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676656"/>
            <a:ext cx="7479792" cy="0"/>
          </a:xfrm>
          <a:prstGeom prst="line">
            <a:avLst/>
          </a:prstGeom>
          <a:ln w="2540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0" y="6556248"/>
            <a:ext cx="12191999" cy="301752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 flipV="1">
            <a:off x="-621792" y="6556248"/>
            <a:ext cx="914399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2179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24358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86537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48716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10896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73075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435254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97433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559612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21792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83971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46150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08329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870508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932688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994867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057046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119225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181404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243584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305763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367942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28600" y="6565392"/>
            <a:ext cx="2514600" cy="20116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2026年7月4日 星期六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6565392"/>
            <a:ext cx="320040" cy="20116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6582107"/>
            <a:ext cx="2651760" cy="16773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/>
            <a:r>
              <a:rPr sz="850" b="0" dirty="0" err="1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东北大学</a:t>
            </a:r>
            <a:r>
              <a:rPr lang="zh-CN" altLang="en-US" sz="850" dirty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软件学院</a:t>
            </a:r>
            <a:endParaRPr sz="850" b="0" dirty="0">
              <a:solidFill>
                <a:srgbClr val="FFFFFF"/>
              </a:solidFill>
              <a:latin typeface="Times New Roman" panose="02020603050405020304"/>
              <a:ea typeface="楷体" panose="02010609060101010101" charset="-122"/>
              <a:cs typeface="Times New Roman" panose="02020603050405020304"/>
            </a:endParaRP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1F845C59-CB54-5199-BE73-7ECD04335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76656"/>
            <a:ext cx="12192000" cy="647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0896" y="164592"/>
            <a:ext cx="1444752" cy="384048"/>
          </a:xfrm>
          <a:prstGeom prst="rect">
            <a:avLst/>
          </a:prstGeom>
          <a:solidFill>
            <a:srgbClr val="E8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70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总体架构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1901952" y="164592"/>
            <a:ext cx="5358384" cy="384048"/>
          </a:xfrm>
          <a:prstGeom prst="rect">
            <a:avLst/>
          </a:prstGeom>
          <a:solidFill>
            <a:srgbClr val="FFFFFF"/>
          </a:solidFill>
          <a:ln w="1397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l"/>
            <a:r>
              <a:rPr sz="200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系统总体架构设计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676656"/>
            <a:ext cx="7479792" cy="0"/>
          </a:xfrm>
          <a:prstGeom prst="line">
            <a:avLst/>
          </a:prstGeom>
          <a:ln w="2540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0" y="6556248"/>
            <a:ext cx="12191999" cy="301752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 flipV="1">
            <a:off x="-621792" y="6556248"/>
            <a:ext cx="914399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2179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24358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86537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48716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10896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73075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435254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97433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559612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21792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83971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46150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08329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870508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932688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994867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057046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119225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181404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243584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305763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367942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28600" y="6565392"/>
            <a:ext cx="2514600" cy="20116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2026年7月4日 星期六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6565392"/>
            <a:ext cx="320040" cy="20116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6582107"/>
            <a:ext cx="2651760" cy="16773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/>
            <a:r>
              <a:rPr sz="850" b="0" dirty="0" err="1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东北大学</a:t>
            </a:r>
            <a:r>
              <a:rPr lang="zh-CN" altLang="en-US" sz="850" dirty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软件学院</a:t>
            </a:r>
            <a:endParaRPr sz="850" b="0" dirty="0">
              <a:solidFill>
                <a:srgbClr val="FFFFFF"/>
              </a:solidFill>
              <a:latin typeface="Times New Roman" panose="02020603050405020304"/>
              <a:ea typeface="楷体" panose="02010609060101010101" charset="-122"/>
              <a:cs typeface="Times New Roman" panose="02020603050405020304"/>
            </a:endParaRP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44375D79-2CA9-A6DF-D5E8-36D695CB3A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1148" y="676656"/>
            <a:ext cx="12192000" cy="647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0896" y="164592"/>
            <a:ext cx="1444752" cy="384048"/>
          </a:xfrm>
          <a:prstGeom prst="rect">
            <a:avLst/>
          </a:prstGeom>
          <a:solidFill>
            <a:srgbClr val="E8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70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核心设计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1901952" y="164592"/>
            <a:ext cx="5358384" cy="384048"/>
          </a:xfrm>
          <a:prstGeom prst="rect">
            <a:avLst/>
          </a:prstGeom>
          <a:solidFill>
            <a:srgbClr val="FFFFFF"/>
          </a:solidFill>
          <a:ln w="1397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l"/>
            <a:r>
              <a:rPr sz="200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将智慧课程映射为游戏世界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804926"/>
            <a:ext cx="7479792" cy="0"/>
          </a:xfrm>
          <a:prstGeom prst="line">
            <a:avLst/>
          </a:prstGeom>
          <a:ln w="2540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0" y="6556375"/>
            <a:ext cx="12191365" cy="301625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 flipV="1">
            <a:off x="-621792" y="6556248"/>
            <a:ext cx="914399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2179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24358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86537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48716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10896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73075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435254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97433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559612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21792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83971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46150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08329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870508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932688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994867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057046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119225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181404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243584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305763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367942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28600" y="6565392"/>
            <a:ext cx="2514600" cy="20116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2026年7月4日 星期六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6565392"/>
            <a:ext cx="320040" cy="20116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6582107"/>
            <a:ext cx="2651760" cy="16773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/>
            <a:r>
              <a:rPr sz="850" b="0" dirty="0" err="1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东北大学</a:t>
            </a:r>
            <a:r>
              <a:rPr lang="zh-CN" altLang="en-US" sz="850" dirty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软件学院</a:t>
            </a:r>
            <a:endParaRPr sz="850" b="0" dirty="0">
              <a:solidFill>
                <a:srgbClr val="FFFFFF"/>
              </a:solidFill>
              <a:latin typeface="Times New Roman" panose="02020603050405020304"/>
              <a:ea typeface="楷体" panose="02010609060101010101" charset="-122"/>
              <a:cs typeface="Times New Roman" panose="02020603050405020304"/>
            </a:endParaRP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1914AB56-61D9-8432-7F06-08206428A0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" y="548640"/>
            <a:ext cx="12192000" cy="647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0896" y="164592"/>
            <a:ext cx="1444752" cy="384048"/>
          </a:xfrm>
          <a:prstGeom prst="rect">
            <a:avLst/>
          </a:prstGeom>
          <a:solidFill>
            <a:srgbClr val="E8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70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学生端</a:t>
            </a:r>
          </a:p>
        </p:txBody>
      </p:sp>
      <p:sp>
        <p:nvSpPr>
          <p:cNvPr id="3" name="Rectangle 2"/>
          <p:cNvSpPr/>
          <p:nvPr/>
        </p:nvSpPr>
        <p:spPr>
          <a:xfrm>
            <a:off x="1901952" y="164592"/>
            <a:ext cx="5358384" cy="384048"/>
          </a:xfrm>
          <a:prstGeom prst="rect">
            <a:avLst/>
          </a:prstGeom>
          <a:solidFill>
            <a:srgbClr val="FFFFFF"/>
          </a:solidFill>
          <a:ln w="1397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l"/>
            <a:r>
              <a:rPr sz="200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构建沉浸式学习体验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676656"/>
            <a:ext cx="7479792" cy="0"/>
          </a:xfrm>
          <a:prstGeom prst="line">
            <a:avLst/>
          </a:prstGeom>
          <a:ln w="2540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0" y="6556248"/>
            <a:ext cx="12191999" cy="301752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 flipV="1">
            <a:off x="-621792" y="6556248"/>
            <a:ext cx="914399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2179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24358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86537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48716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10896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73075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435254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97433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559612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21792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83971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46150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08329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870508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932688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994867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057046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119225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181404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243584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305763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367942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28600" y="6565392"/>
            <a:ext cx="2514600" cy="20116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2026年7月4日 星期六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6565392"/>
            <a:ext cx="320040" cy="20116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6582107"/>
            <a:ext cx="2651760" cy="16773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/>
            <a:r>
              <a:rPr sz="850" b="0" dirty="0" err="1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东北大学</a:t>
            </a:r>
            <a:r>
              <a:rPr lang="zh-CN" altLang="en-US" sz="850" dirty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软件学院</a:t>
            </a:r>
            <a:endParaRPr sz="850" b="0" dirty="0">
              <a:solidFill>
                <a:srgbClr val="FFFFFF"/>
              </a:solidFill>
              <a:latin typeface="Times New Roman" panose="02020603050405020304"/>
              <a:ea typeface="楷体" panose="02010609060101010101" charset="-122"/>
              <a:cs typeface="Times New Roman" panose="02020603050405020304"/>
            </a:endParaRP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3C10A9C1-A4D3-FF70-DAD1-82790082CD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99872" y="476250"/>
            <a:ext cx="12192000" cy="647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0896" y="164592"/>
            <a:ext cx="1444752" cy="384048"/>
          </a:xfrm>
          <a:prstGeom prst="rect">
            <a:avLst/>
          </a:prstGeom>
          <a:solidFill>
            <a:srgbClr val="E8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70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教师端</a:t>
            </a:r>
          </a:p>
        </p:txBody>
      </p:sp>
      <p:sp>
        <p:nvSpPr>
          <p:cNvPr id="3" name="Rectangle 2"/>
          <p:cNvSpPr/>
          <p:nvPr/>
        </p:nvSpPr>
        <p:spPr>
          <a:xfrm>
            <a:off x="1901952" y="164592"/>
            <a:ext cx="5358384" cy="384048"/>
          </a:xfrm>
          <a:prstGeom prst="rect">
            <a:avLst/>
          </a:prstGeom>
          <a:solidFill>
            <a:srgbClr val="FFFFFF"/>
          </a:solidFill>
          <a:ln w="1397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l"/>
            <a:r>
              <a:rPr sz="200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教学管理与学情分析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676656"/>
            <a:ext cx="7479792" cy="0"/>
          </a:xfrm>
          <a:prstGeom prst="line">
            <a:avLst/>
          </a:prstGeom>
          <a:ln w="2540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0" y="6556248"/>
            <a:ext cx="12191999" cy="301752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 flipV="1">
            <a:off x="-621792" y="6556248"/>
            <a:ext cx="914399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2179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24358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86537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48716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10896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73075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435254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97433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559612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21792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83971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46150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08329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870508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932688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994867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057046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119225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181404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243584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305763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367942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28600" y="6565392"/>
            <a:ext cx="2514600" cy="20116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2026年7月4日 星期六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6565392"/>
            <a:ext cx="320040" cy="20116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6582107"/>
            <a:ext cx="2651760" cy="16773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/>
            <a:r>
              <a:rPr sz="850" b="0" dirty="0" err="1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东北大学</a:t>
            </a:r>
            <a:r>
              <a:rPr lang="zh-CN" altLang="en-US" sz="850" dirty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软件学院</a:t>
            </a:r>
            <a:endParaRPr sz="850" b="0" dirty="0">
              <a:solidFill>
                <a:srgbClr val="FFFFFF"/>
              </a:solidFill>
              <a:latin typeface="Times New Roman" panose="02020603050405020304"/>
              <a:ea typeface="楷体" panose="02010609060101010101" charset="-122"/>
              <a:cs typeface="Times New Roman" panose="02020603050405020304"/>
            </a:endParaRP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F5694083-98A6-1CFA-A999-81947A4A0C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2672" y="356616"/>
            <a:ext cx="12192000" cy="6477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0896" y="164592"/>
            <a:ext cx="1444752" cy="384048"/>
          </a:xfrm>
          <a:prstGeom prst="rect">
            <a:avLst/>
          </a:prstGeom>
          <a:solidFill>
            <a:srgbClr val="E8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70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AI应用</a:t>
            </a:r>
          </a:p>
        </p:txBody>
      </p:sp>
      <p:sp>
        <p:nvSpPr>
          <p:cNvPr id="3" name="Rectangle 2"/>
          <p:cNvSpPr/>
          <p:nvPr/>
        </p:nvSpPr>
        <p:spPr>
          <a:xfrm>
            <a:off x="1901952" y="164592"/>
            <a:ext cx="5358384" cy="384048"/>
          </a:xfrm>
          <a:prstGeom prst="rect">
            <a:avLst/>
          </a:prstGeom>
          <a:solidFill>
            <a:srgbClr val="FFFFFF"/>
          </a:solidFill>
          <a:ln w="1397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l"/>
            <a:r>
              <a:rPr sz="200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AI赋能智慧课程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804926"/>
            <a:ext cx="7479792" cy="0"/>
          </a:xfrm>
          <a:prstGeom prst="line">
            <a:avLst/>
          </a:prstGeom>
          <a:ln w="2540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0" y="6556248"/>
            <a:ext cx="12191999" cy="301752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 flipV="1">
            <a:off x="-621792" y="6556248"/>
            <a:ext cx="914399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2179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24358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86537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48716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10896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73075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435254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97433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559612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21792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83971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46150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08329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870508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932688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994867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057046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119225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181404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243584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305763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367942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28600" y="6565392"/>
            <a:ext cx="2514600" cy="20116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2026年7月4日 星期六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6565392"/>
            <a:ext cx="320040" cy="20116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11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6582107"/>
            <a:ext cx="2651760" cy="16773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/>
            <a:r>
              <a:rPr sz="850" b="0" dirty="0" err="1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东北大学</a:t>
            </a:r>
            <a:r>
              <a:rPr lang="zh-CN" altLang="en-US" sz="850" dirty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软件学院</a:t>
            </a:r>
            <a:endParaRPr sz="850" b="0" dirty="0">
              <a:solidFill>
                <a:srgbClr val="FFFFFF"/>
              </a:solidFill>
              <a:latin typeface="Times New Roman" panose="02020603050405020304"/>
              <a:ea typeface="楷体" panose="02010609060101010101" charset="-122"/>
              <a:cs typeface="Times New Roman" panose="02020603050405020304"/>
            </a:endParaRP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07912DEA-3F8E-830B-6701-BDB577A5C0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2672" y="548640"/>
            <a:ext cx="12192000" cy="6477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0896" y="164592"/>
            <a:ext cx="1444752" cy="384048"/>
          </a:xfrm>
          <a:prstGeom prst="rect">
            <a:avLst/>
          </a:prstGeom>
          <a:solidFill>
            <a:srgbClr val="E8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70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AI架构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1901952" y="164592"/>
            <a:ext cx="5358384" cy="384048"/>
          </a:xfrm>
          <a:prstGeom prst="rect">
            <a:avLst/>
          </a:prstGeom>
          <a:solidFill>
            <a:srgbClr val="FFFFFF"/>
          </a:solidFill>
          <a:ln w="1397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l"/>
            <a:r>
              <a:rPr sz="200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AI智能教学实现方案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-40640" y="727456"/>
            <a:ext cx="7479792" cy="0"/>
          </a:xfrm>
          <a:prstGeom prst="line">
            <a:avLst/>
          </a:prstGeom>
          <a:ln w="2540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0" y="6556248"/>
            <a:ext cx="12191999" cy="301752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 flipV="1">
            <a:off x="-621792" y="6556248"/>
            <a:ext cx="914399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2179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24358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86537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48716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10896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73075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435254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97433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559612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21792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83971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46150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08329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870508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932688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994867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057046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119225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181404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243584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305763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367942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28600" y="6565392"/>
            <a:ext cx="2514600" cy="20116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2026年7月4日 星期六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6565392"/>
            <a:ext cx="320040" cy="20116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6582107"/>
            <a:ext cx="2651760" cy="16773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/>
            <a:r>
              <a:rPr sz="850" b="0" dirty="0" err="1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东北大学</a:t>
            </a:r>
            <a:r>
              <a:rPr lang="zh-CN" altLang="en-US" sz="850" dirty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软件学院</a:t>
            </a:r>
            <a:endParaRPr sz="850" b="0" dirty="0">
              <a:solidFill>
                <a:srgbClr val="FFFFFF"/>
              </a:solidFill>
              <a:latin typeface="Times New Roman" panose="02020603050405020304"/>
              <a:ea typeface="楷体" panose="02010609060101010101" charset="-122"/>
              <a:cs typeface="Times New Roman" panose="02020603050405020304"/>
            </a:endParaRP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D8D25A11-A156-4AAC-94E5-B9F234C973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476250"/>
            <a:ext cx="12192000" cy="6477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0896" y="164592"/>
            <a:ext cx="1444752" cy="384048"/>
          </a:xfrm>
          <a:prstGeom prst="rect">
            <a:avLst/>
          </a:prstGeom>
          <a:solidFill>
            <a:srgbClr val="E8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70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数据库</a:t>
            </a:r>
          </a:p>
        </p:txBody>
      </p:sp>
      <p:sp>
        <p:nvSpPr>
          <p:cNvPr id="3" name="Rectangle 2"/>
          <p:cNvSpPr/>
          <p:nvPr/>
        </p:nvSpPr>
        <p:spPr>
          <a:xfrm>
            <a:off x="1901952" y="164592"/>
            <a:ext cx="5358384" cy="384048"/>
          </a:xfrm>
          <a:prstGeom prst="rect">
            <a:avLst/>
          </a:prstGeom>
          <a:solidFill>
            <a:srgbClr val="FFFFFF"/>
          </a:solidFill>
          <a:ln w="1397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l"/>
            <a:r>
              <a:rPr sz="200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KingbaseES数据库应用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676656"/>
            <a:ext cx="7479792" cy="0"/>
          </a:xfrm>
          <a:prstGeom prst="line">
            <a:avLst/>
          </a:prstGeom>
          <a:ln w="2540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0" y="6556248"/>
            <a:ext cx="12191999" cy="301752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 flipV="1">
            <a:off x="-621792" y="6556248"/>
            <a:ext cx="914399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2179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24358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86537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48716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10896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73075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435254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97433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559612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21792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83971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46150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08329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870508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932688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994867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057046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119225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181404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243584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305763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367942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28600" y="6565392"/>
            <a:ext cx="2514600" cy="20116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2026年7月4日 星期六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6565392"/>
            <a:ext cx="320040" cy="20116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13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6582107"/>
            <a:ext cx="2651760" cy="16773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/>
            <a:r>
              <a:rPr sz="850" b="0" dirty="0" err="1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东北大学</a:t>
            </a:r>
            <a:r>
              <a:rPr lang="zh-CN" altLang="en-US" sz="850" dirty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软件学院</a:t>
            </a:r>
            <a:endParaRPr sz="850" b="0" dirty="0">
              <a:solidFill>
                <a:srgbClr val="FFFFFF"/>
              </a:solidFill>
              <a:latin typeface="Times New Roman" panose="02020603050405020304"/>
              <a:ea typeface="楷体" panose="02010609060101010101" charset="-122"/>
              <a:cs typeface="Times New Roman" panose="02020603050405020304"/>
            </a:endParaRP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D7A81514-AA5B-E746-1E15-8133FA7285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" y="676656"/>
            <a:ext cx="12192000" cy="6477000"/>
          </a:xfrm>
          <a:prstGeom prst="rect">
            <a:avLst/>
          </a:prstGeom>
        </p:spPr>
      </p:pic>
      <p:sp>
        <p:nvSpPr>
          <p:cNvPr id="37" name="KingbaseES应用覆盖文字"/>
          <p:cNvSpPr/>
          <p:nvPr/>
        </p:nvSpPr>
        <p:spPr>
          <a:xfrm>
            <a:off x="1219200" y="4274820"/>
            <a:ext cx="1450000" cy="285000"/>
          </a:xfrm>
          <a:prstGeom prst="rect">
            <a:avLst/>
          </a:prstGeom>
          <a:solidFill>
            <a:srgbClr val="E8F3FF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sz="1100" b="0">
                <a:solidFill>
                  <a:srgbClr val="202020"/>
                </a:solidFill>
                <a:latin typeface="Times New Roman"/>
                <a:ea typeface="楷体" charset="-122"/>
              </a:rPr>
              <a:t>KingbaseES应用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0896" y="164592"/>
            <a:ext cx="1444752" cy="384048"/>
          </a:xfrm>
          <a:prstGeom prst="rect">
            <a:avLst/>
          </a:prstGeom>
          <a:solidFill>
            <a:srgbClr val="E8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70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HarmonyOS</a:t>
            </a:r>
          </a:p>
        </p:txBody>
      </p:sp>
      <p:sp>
        <p:nvSpPr>
          <p:cNvPr id="3" name="Rectangle 2"/>
          <p:cNvSpPr/>
          <p:nvPr/>
        </p:nvSpPr>
        <p:spPr>
          <a:xfrm>
            <a:off x="1901952" y="164592"/>
            <a:ext cx="5358384" cy="384048"/>
          </a:xfrm>
          <a:prstGeom prst="rect">
            <a:avLst/>
          </a:prstGeom>
          <a:solidFill>
            <a:srgbClr val="FFFFFF"/>
          </a:solidFill>
          <a:ln w="1397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l"/>
            <a:r>
              <a:rPr sz="200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HarmonyOS移动端开发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804926"/>
            <a:ext cx="7479792" cy="0"/>
          </a:xfrm>
          <a:prstGeom prst="line">
            <a:avLst/>
          </a:prstGeom>
          <a:ln w="2540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0" y="6556248"/>
            <a:ext cx="12191999" cy="301752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 flipV="1">
            <a:off x="-621792" y="6556248"/>
            <a:ext cx="914399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2179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24358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86537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48716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10896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73075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435254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97433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559612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21792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83971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46150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08329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870508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932688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994867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057046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119225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181404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243584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305763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367942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28600" y="6565392"/>
            <a:ext cx="2514600" cy="20116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2026年7月4日 星期六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6565392"/>
            <a:ext cx="320040" cy="20116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6582107"/>
            <a:ext cx="2651760" cy="16773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/>
            <a:r>
              <a:rPr sz="850" b="0" dirty="0" err="1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东北大学</a:t>
            </a:r>
            <a:r>
              <a:rPr lang="zh-CN" altLang="en-US" sz="850" dirty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软件学院</a:t>
            </a:r>
            <a:endParaRPr sz="850" b="0" dirty="0">
              <a:solidFill>
                <a:srgbClr val="FFFFFF"/>
              </a:solidFill>
              <a:latin typeface="Times New Roman" panose="02020603050405020304"/>
              <a:ea typeface="楷体" panose="02010609060101010101" charset="-122"/>
              <a:cs typeface="Times New Roman" panose="02020603050405020304"/>
            </a:endParaRP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71382677-AFAD-0B09-FC07-644D49842B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3580" y="485140"/>
            <a:ext cx="6848222" cy="3638118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4BC99F69-683E-0260-DFC6-222C4DC41D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153" y="1061212"/>
            <a:ext cx="5189733" cy="2406903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7F9A3608-6E01-29B9-7EA6-70F7A877A7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8153" y="3802621"/>
            <a:ext cx="5232176" cy="2392973"/>
          </a:xfrm>
          <a:prstGeom prst="rect">
            <a:avLst/>
          </a:prstGeom>
        </p:spPr>
      </p:pic>
      <p:pic>
        <p:nvPicPr>
          <p:cNvPr id="41" name="图片 40">
            <a:extLst>
              <a:ext uri="{FF2B5EF4-FFF2-40B4-BE49-F238E27FC236}">
                <a16:creationId xmlns:a16="http://schemas.microsoft.com/office/drawing/2014/main" id="{98361130-C4F7-E65E-16F7-145D99E487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020" y="3701455"/>
            <a:ext cx="5466537" cy="2520287"/>
          </a:xfrm>
          <a:prstGeom prst="rect">
            <a:avLst/>
          </a:prstGeom>
        </p:spPr>
      </p:pic>
      <p:sp>
        <p:nvSpPr>
          <p:cNvPr id="42" name="箭头: 下 41">
            <a:extLst>
              <a:ext uri="{FF2B5EF4-FFF2-40B4-BE49-F238E27FC236}">
                <a16:creationId xmlns:a16="http://schemas.microsoft.com/office/drawing/2014/main" id="{CCEDAE1C-DA62-43B3-5311-AF0C62EB9DB5}"/>
              </a:ext>
            </a:extLst>
          </p:cNvPr>
          <p:cNvSpPr/>
          <p:nvPr/>
        </p:nvSpPr>
        <p:spPr>
          <a:xfrm>
            <a:off x="9074150" y="3468115"/>
            <a:ext cx="393700" cy="334506"/>
          </a:xfrm>
          <a:prstGeom prst="down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箭头: 左 42">
            <a:extLst>
              <a:ext uri="{FF2B5EF4-FFF2-40B4-BE49-F238E27FC236}">
                <a16:creationId xmlns:a16="http://schemas.microsoft.com/office/drawing/2014/main" id="{524A149C-545C-39EE-F930-4962CDB7FFA3}"/>
              </a:ext>
            </a:extLst>
          </p:cNvPr>
          <p:cNvSpPr/>
          <p:nvPr/>
        </p:nvSpPr>
        <p:spPr>
          <a:xfrm>
            <a:off x="6096000" y="4895850"/>
            <a:ext cx="502153" cy="400050"/>
          </a:xfrm>
          <a:prstGeom prst="lef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0896" y="164592"/>
            <a:ext cx="1444752" cy="384048"/>
          </a:xfrm>
          <a:prstGeom prst="rect">
            <a:avLst/>
          </a:prstGeom>
          <a:solidFill>
            <a:srgbClr val="E8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70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单元测试</a:t>
            </a:r>
          </a:p>
        </p:txBody>
      </p:sp>
      <p:sp>
        <p:nvSpPr>
          <p:cNvPr id="3" name="Rectangle 2"/>
          <p:cNvSpPr/>
          <p:nvPr/>
        </p:nvSpPr>
        <p:spPr>
          <a:xfrm>
            <a:off x="1901952" y="164592"/>
            <a:ext cx="5358384" cy="384048"/>
          </a:xfrm>
          <a:prstGeom prst="rect">
            <a:avLst/>
          </a:prstGeom>
          <a:solidFill>
            <a:srgbClr val="FFFFFF"/>
          </a:solidFill>
          <a:ln w="1397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l"/>
            <a:r>
              <a:rPr sz="200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系统功能验证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804926"/>
            <a:ext cx="7479792" cy="0"/>
          </a:xfrm>
          <a:prstGeom prst="line">
            <a:avLst/>
          </a:prstGeom>
          <a:ln w="2540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0" y="6556248"/>
            <a:ext cx="12191999" cy="301752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 flipV="1">
            <a:off x="-621792" y="6556248"/>
            <a:ext cx="914399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2179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24358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86537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48716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10896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73075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435254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97433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559612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21792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83971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46150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08329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870508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932688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994867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057046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119225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181404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243584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305763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367942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28600" y="6565392"/>
            <a:ext cx="2514600" cy="20116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2026年7月4日 星期六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6565392"/>
            <a:ext cx="320040" cy="20116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15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6582107"/>
            <a:ext cx="2651760" cy="16773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/>
            <a:r>
              <a:rPr sz="850" b="0" dirty="0" err="1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东北大学</a:t>
            </a:r>
            <a:r>
              <a:rPr lang="zh-CN" altLang="en-US" sz="850" dirty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软件学院</a:t>
            </a:r>
            <a:endParaRPr sz="850" b="0" dirty="0">
              <a:solidFill>
                <a:srgbClr val="FFFFFF"/>
              </a:solidFill>
              <a:latin typeface="Times New Roman" panose="02020603050405020304"/>
              <a:ea typeface="楷体" panose="02010609060101010101" charset="-122"/>
              <a:cs typeface="Times New Roman" panose="02020603050405020304"/>
            </a:endParaRP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66338F94-A673-C6EF-4401-C6EBDBE730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2672" y="666750"/>
            <a:ext cx="12192000" cy="6477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0896" y="164592"/>
            <a:ext cx="1444752" cy="384048"/>
          </a:xfrm>
          <a:prstGeom prst="rect">
            <a:avLst/>
          </a:prstGeom>
          <a:solidFill>
            <a:srgbClr val="E8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70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性能测试</a:t>
            </a:r>
          </a:p>
        </p:txBody>
      </p:sp>
      <p:sp>
        <p:nvSpPr>
          <p:cNvPr id="3" name="Rectangle 2"/>
          <p:cNvSpPr/>
          <p:nvPr/>
        </p:nvSpPr>
        <p:spPr>
          <a:xfrm>
            <a:off x="1901952" y="164592"/>
            <a:ext cx="5358384" cy="384048"/>
          </a:xfrm>
          <a:prstGeom prst="rect">
            <a:avLst/>
          </a:prstGeom>
          <a:solidFill>
            <a:srgbClr val="FFFFFF"/>
          </a:solidFill>
          <a:ln w="1397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l"/>
            <a:r>
              <a:rPr sz="200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国产测试工具验证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676656"/>
            <a:ext cx="7479792" cy="0"/>
          </a:xfrm>
          <a:prstGeom prst="line">
            <a:avLst/>
          </a:prstGeom>
          <a:ln w="2540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0" y="6556248"/>
            <a:ext cx="12191999" cy="301752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 flipV="1">
            <a:off x="-621792" y="6556248"/>
            <a:ext cx="914399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2179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24358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86537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48716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10896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73075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435254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97433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559612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21792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83971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46150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08329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870508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932688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994867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057046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119225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181404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243584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305763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367942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28600" y="6565392"/>
            <a:ext cx="2514600" cy="20116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2026年7月4日 星期六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6565392"/>
            <a:ext cx="320040" cy="20116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6582107"/>
            <a:ext cx="2651760" cy="16773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/>
            <a:r>
              <a:rPr sz="850" b="0" dirty="0" err="1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东北大学</a:t>
            </a:r>
            <a:r>
              <a:rPr lang="zh-CN" altLang="en-US" sz="850" dirty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软件学院</a:t>
            </a:r>
            <a:endParaRPr sz="850" b="0" dirty="0">
              <a:solidFill>
                <a:srgbClr val="FFFFFF"/>
              </a:solidFill>
              <a:latin typeface="Times New Roman" panose="02020603050405020304"/>
              <a:ea typeface="楷体" panose="02010609060101010101" charset="-122"/>
              <a:cs typeface="Times New Roman" panose="02020603050405020304"/>
            </a:endParaRP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D0A62E1A-9EE9-1767-9E10-899ED973F2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" y="381000"/>
            <a:ext cx="12192000" cy="6477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346" y="281432"/>
            <a:ext cx="1444752" cy="384048"/>
          </a:xfrm>
          <a:prstGeom prst="rect">
            <a:avLst/>
          </a:prstGeom>
          <a:solidFill>
            <a:srgbClr val="E8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70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推广方案</a:t>
            </a:r>
          </a:p>
        </p:txBody>
      </p:sp>
      <p:sp>
        <p:nvSpPr>
          <p:cNvPr id="3" name="Rectangle 2"/>
          <p:cNvSpPr/>
          <p:nvPr/>
        </p:nvSpPr>
        <p:spPr>
          <a:xfrm>
            <a:off x="1902587" y="281432"/>
            <a:ext cx="5358384" cy="384048"/>
          </a:xfrm>
          <a:prstGeom prst="rect">
            <a:avLst/>
          </a:prstGeom>
          <a:solidFill>
            <a:srgbClr val="FFFFFF"/>
          </a:solidFill>
          <a:ln w="1397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l"/>
            <a:r>
              <a:rPr sz="200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课堂游戏化伴随系统的推广模式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942086"/>
            <a:ext cx="7479792" cy="0"/>
          </a:xfrm>
          <a:prstGeom prst="line">
            <a:avLst/>
          </a:prstGeom>
          <a:ln w="2540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0" y="6556248"/>
            <a:ext cx="12191999" cy="301752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 flipV="1">
            <a:off x="-621792" y="6556248"/>
            <a:ext cx="914399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2179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24358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86537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48716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10896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73075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435254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97433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559612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21792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83971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46150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08329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870508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932688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994867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057046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119225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181404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243584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305763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367942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28600" y="6565392"/>
            <a:ext cx="2514600" cy="20116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2026年7月4日 星期六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6565392"/>
            <a:ext cx="320040" cy="20116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17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6582107"/>
            <a:ext cx="2651760" cy="16773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/>
            <a:r>
              <a:rPr sz="850" b="0" dirty="0" err="1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东北大学</a:t>
            </a:r>
            <a:r>
              <a:rPr lang="zh-CN" altLang="en-US" sz="850" dirty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软件学院</a:t>
            </a:r>
            <a:endParaRPr sz="850" b="0" dirty="0">
              <a:solidFill>
                <a:srgbClr val="FFFFFF"/>
              </a:solidFill>
              <a:latin typeface="Times New Roman" panose="02020603050405020304"/>
              <a:ea typeface="楷体" panose="02010609060101010101" charset="-122"/>
              <a:cs typeface="Times New Roman" panose="02020603050405020304"/>
            </a:endParaRP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F6D905A1-8F12-00C6-C940-11A31565A5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2400" y="190500"/>
            <a:ext cx="12192000" cy="6477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0896" y="164592"/>
            <a:ext cx="1444752" cy="384048"/>
          </a:xfrm>
          <a:prstGeom prst="rect">
            <a:avLst/>
          </a:prstGeom>
          <a:solidFill>
            <a:srgbClr val="E8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70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竞争分析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1901952" y="164592"/>
            <a:ext cx="5358384" cy="384048"/>
          </a:xfrm>
          <a:prstGeom prst="rect">
            <a:avLst/>
          </a:prstGeom>
          <a:solidFill>
            <a:srgbClr val="FFFFFF"/>
          </a:solidFill>
          <a:ln w="1397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l"/>
            <a:r>
              <a:rPr sz="200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可迁移、可扩展的游戏化学习模式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-18415" y="804926"/>
            <a:ext cx="7479792" cy="0"/>
          </a:xfrm>
          <a:prstGeom prst="line">
            <a:avLst/>
          </a:prstGeom>
          <a:ln w="2540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0" y="6556248"/>
            <a:ext cx="12191999" cy="301752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 flipV="1">
            <a:off x="-621792" y="6556248"/>
            <a:ext cx="914399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2179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24358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86537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48716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10896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73075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435254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97433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559612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21792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83971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46150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08329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870508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932688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994867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057046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119225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181404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243584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305763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367942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28600" y="6565392"/>
            <a:ext cx="2514600" cy="20116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2026年7月4日 星期六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6565392"/>
            <a:ext cx="320040" cy="20116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6582107"/>
            <a:ext cx="2651760" cy="16773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/>
            <a:r>
              <a:rPr sz="850" b="0" dirty="0" err="1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东北大学</a:t>
            </a:r>
            <a:r>
              <a:rPr lang="zh-CN" altLang="en-US" sz="850" dirty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软件学院</a:t>
            </a:r>
            <a:endParaRPr sz="850" b="0" dirty="0">
              <a:solidFill>
                <a:srgbClr val="FFFFFF"/>
              </a:solidFill>
              <a:latin typeface="Times New Roman" panose="02020603050405020304"/>
              <a:ea typeface="楷体" panose="02010609060101010101" charset="-122"/>
              <a:cs typeface="Times New Roman" panose="02020603050405020304"/>
            </a:endParaRP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A26B1AE5-3ACB-027D-5172-9072F58E58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2672" y="463550"/>
            <a:ext cx="12192000" cy="6477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9.6,&quot;left&quot;:53.279999999999994,&quot;top&quot;:137.2,&quot;width&quot;:846.72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9.6,&quot;left&quot;:53.279999999999994,&quot;top&quot;:137.2,&quot;width&quot;:846.72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9.6,&quot;left&quot;:53.279999999999994,&quot;top&quot;:137.2,&quot;width&quot;:846.72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9.6,&quot;left&quot;:53.279999999999994,&quot;top&quot;:137.2,&quot;width&quot;:846.72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9.6,&quot;left&quot;:53.279999999999994,&quot;top&quot;:137.2,&quot;width&quot;:846.72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9.6,&quot;left&quot;:53.279999999999994,&quot;top&quot;:137.2,&quot;width&quot;:846.72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9.6,&quot;left&quot;:53.279999999999994,&quot;top&quot;:137.2,&quot;width&quot;:846.72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9.6,&quot;left&quot;:53.279999999999994,&quot;top&quot;:137.2,&quot;width&quot;:846.72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9.6,&quot;left&quot;:53.279999999999994,&quot;top&quot;:137.2,&quot;width&quot;:846.72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9.6,&quot;left&quot;:53.279999999999994,&quot;top&quot;:137.2,&quot;width&quot;:846.72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9.6,&quot;left&quot;:53.279999999999994,&quot;top&quot;:137.2,&quot;width&quot;:846.72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9.6,&quot;left&quot;:53.279999999999994,&quot;top&quot;:137.2,&quot;width&quot;:846.72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9.6,&quot;left&quot;:53.279999999999994,&quot;top&quot;:137.2,&quot;width&quot;:846.72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9.6,&quot;left&quot;:53.279999999999994,&quot;top&quot;:137.2,&quot;width&quot;:846.72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9.6,&quot;left&quot;:53.279999999999994,&quot;top&quot;:137.2,&quot;width&quot;:846.7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5CA8FF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412</Words>
  <Application>Microsoft Macintosh PowerPoint</Application>
  <PresentationFormat>宽屏</PresentationFormat>
  <Paragraphs>129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3" baseType="lpstr">
      <vt:lpstr>黑体</vt:lpstr>
      <vt:lpstr>Arial</vt:lpstr>
      <vt:lpstr>Calibri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软件系统开发实训答辩PPT</dc:title>
  <dc:subject>AI智慧课程平台 - 课堂游戏化伴随系统</dc:subject>
  <dc:creator>Codex</dc:creator>
  <dc:description>generated using python-pptx</dc:description>
  <cp:lastModifiedBy>榆航 黄</cp:lastModifiedBy>
  <cp:revision>5</cp:revision>
  <dcterms:created xsi:type="dcterms:W3CDTF">2013-01-27T09:14:00Z</dcterms:created>
  <dcterms:modified xsi:type="dcterms:W3CDTF">2026-07-04T03:56:33Z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F7A122BCC0E3459F81F890B809F46792_13</vt:lpwstr>
  </property>
</Properties>
</file>