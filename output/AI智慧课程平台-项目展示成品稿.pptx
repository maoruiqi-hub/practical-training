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9164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78892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98348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0807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" y="201168"/>
            <a:ext cx="1051560" cy="4114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6446520"/>
            <a:ext cx="960120" cy="41148"/>
          </a:xfrm>
          <a:prstGeom prst="rect">
            <a:avLst/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219456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6464808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E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0"/>
            <a:ext cx="27432" cy="6858000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1051560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D2238"/>
                </a:solidFill>
                <a:latin typeface="PingFang SC"/>
              </a:rPr>
              <a:t>AI 智慧课程平台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1847088"/>
            <a:ext cx="32461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8EA8"/>
                </a:solidFill>
                <a:latin typeface="PingFang SC"/>
              </a:rPr>
              <a:t>基于知识图谱与 AI Agent 的爬塔式学习系统设计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2971800"/>
            <a:ext cx="2743200" cy="10972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0D2238"/>
                </a:solidFill>
                <a:latin typeface="PingFang SC"/>
              </a:rPr>
              <a:t>游戏化学习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0D2238"/>
                </a:solidFill>
                <a:latin typeface="PingFang SC"/>
              </a:rPr>
              <a:t>个性化路径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0D2238"/>
                </a:solidFill>
                <a:latin typeface="PingFang SC"/>
              </a:rPr>
              <a:t>智能诊断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0D2238"/>
                </a:solidFill>
                <a:latin typeface="PingFang SC"/>
              </a:rPr>
              <a:t>国产数据库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0D2238"/>
                </a:solidFill>
                <a:latin typeface="PingFang SC"/>
              </a:rPr>
              <a:t>国产化测试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1600200"/>
            <a:ext cx="32918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D6FE8"/>
                </a:solidFill>
                <a:latin typeface="PingFang SC"/>
              </a:rPr>
              <a:t>项目设计汇报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224028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526B86"/>
                </a:solidFill>
                <a:latin typeface="PingFang SC"/>
              </a:rPr>
              <a:t>设计思路 · 模块划分 · 核心机制 · 推广应用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56832" y="2816352"/>
            <a:ext cx="3474720" cy="45720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29400" y="3657600"/>
            <a:ext cx="4023360" cy="96012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0568" y="3822191"/>
            <a:ext cx="36210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D6FE8"/>
                </a:solidFill>
                <a:latin typeface="PingFang SC"/>
              </a:rPr>
              <a:t>展示边界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169664"/>
            <a:ext cx="36210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操作演示与界面效果放在视频答辩环节；PPT 聚焦系统设计、模块逻辑和推广价值。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4652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6B86"/>
                </a:solidFill>
                <a:latin typeface="PingFang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9164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78892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98348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0807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" y="201168"/>
            <a:ext cx="1051560" cy="4114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6446520"/>
            <a:ext cx="960120" cy="41148"/>
          </a:xfrm>
          <a:prstGeom prst="rect">
            <a:avLst/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219456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6464808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10896"/>
            <a:ext cx="1234440" cy="310896"/>
          </a:xfrm>
          <a:prstGeom prst="roundRect">
            <a:avLst/>
          </a:prstGeom>
          <a:solidFill>
            <a:srgbClr val="E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8EA8"/>
                </a:solidFill>
                <a:latin typeface="PingFang SC"/>
              </a:rPr>
              <a:t>问题定义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8368"/>
            <a:ext cx="73152" cy="65836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94944"/>
            <a:ext cx="749807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D2238"/>
                </a:solidFill>
                <a:latin typeface="PingFang SC"/>
              </a:rPr>
              <a:t>项目背景与问题定义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0700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26B86"/>
                </a:solidFill>
                <a:latin typeface="PingFang SC"/>
              </a:rPr>
              <a:t>从学生学习困难、教师教学决策和系统智能化三个维度定义项目价值。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1828800"/>
            <a:ext cx="3383280" cy="210312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1993392"/>
            <a:ext cx="2980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D6FE8"/>
                </a:solidFill>
                <a:latin typeface="PingFang SC"/>
              </a:rPr>
              <a:t>学生端问题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2340864"/>
            <a:ext cx="2980944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学生常常不知道下一步优先补哪个知识点，题目练习与知识掌握之间缺少可解释关联。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1828800"/>
            <a:ext cx="3383280" cy="2103120"/>
          </a:xfrm>
          <a:prstGeom prst="roundRect">
            <a:avLst/>
          </a:prstGeom>
          <a:solidFill>
            <a:srgbClr val="DDF7F4"/>
          </a:solidFill>
          <a:ln w="12700">
            <a:solidFill>
              <a:srgbClr val="0B8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6007" y="1993392"/>
            <a:ext cx="2980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0B8EA8"/>
                </a:solidFill>
                <a:latin typeface="PingFang SC"/>
              </a:rPr>
              <a:t>教师端问题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7" y="2340864"/>
            <a:ext cx="2980944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教师面对大量作答数据时，难以及时识别班级共性问题、个体风险和需要干预的薄弱点。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1828800"/>
            <a:ext cx="3383280" cy="2103120"/>
          </a:xfrm>
          <a:prstGeom prst="roundRect">
            <a:avLst/>
          </a:prstGeom>
          <a:solidFill>
            <a:srgbClr val="E8FAF3"/>
          </a:solidFill>
          <a:ln w="12700">
            <a:solidFill>
              <a:srgbClr val="20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8" y="1993392"/>
            <a:ext cx="2980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20A779"/>
                </a:solidFill>
                <a:latin typeface="PingFang SC"/>
              </a:rPr>
              <a:t>系统端问题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2340864"/>
            <a:ext cx="2980944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AI、知识图谱和数据库需要形成稳定闭环，才能让推荐、诊断和教学建议具备可追溯依据。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63040" y="4663440"/>
            <a:ext cx="92354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B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0" y="495604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D6FE8"/>
                </a:solidFill>
                <a:latin typeface="PingFang SC"/>
              </a:rPr>
              <a:t>核心目标：把课程学习过程转化为可组织、可计算、可推荐、可干预的数据闭环。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4652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6B86"/>
                </a:solidFill>
                <a:latin typeface="PingFang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9164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78892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98348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0807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" y="201168"/>
            <a:ext cx="1051560" cy="4114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6446520"/>
            <a:ext cx="960120" cy="41148"/>
          </a:xfrm>
          <a:prstGeom prst="rect">
            <a:avLst/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219456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6464808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10896"/>
            <a:ext cx="1234440" cy="310896"/>
          </a:xfrm>
          <a:prstGeom prst="roundRect">
            <a:avLst/>
          </a:prstGeom>
          <a:solidFill>
            <a:srgbClr val="E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8EA8"/>
                </a:solidFill>
                <a:latin typeface="PingFang SC"/>
              </a:rPr>
              <a:t>总体设计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8368"/>
            <a:ext cx="73152" cy="65836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94944"/>
            <a:ext cx="749807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D2238"/>
                </a:solidFill>
                <a:latin typeface="PingFang SC"/>
              </a:rPr>
              <a:t>知识组织 - 学习挑战 - 数据沉淀 - 智能反馈 - 教学干预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0700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26B86"/>
                </a:solidFill>
                <a:latin typeface="PingFang SC"/>
              </a:rPr>
              <a:t>平台围绕学习过程闭环展开设计，而不是只围绕课程管理功能堆叠。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1783080"/>
            <a:ext cx="9966960" cy="705916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53312" y="194767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6FE8"/>
                </a:solidFill>
                <a:latin typeface="PingFang SC"/>
              </a:rPr>
              <a:t>知识组织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24912" y="194767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0D2238"/>
                </a:solidFill>
                <a:latin typeface="PingFang SC"/>
              </a:rPr>
              <a:t>课程、章节、知识点、能力点和前置关系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2635300"/>
            <a:ext cx="9966960" cy="705916"/>
          </a:xfrm>
          <a:prstGeom prst="roundRect">
            <a:avLst/>
          </a:prstGeom>
          <a:solidFill>
            <a:srgbClr val="DDF7F4"/>
          </a:solidFill>
          <a:ln w="12700">
            <a:solidFill>
              <a:srgbClr val="0B8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53312" y="27998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8EA8"/>
                </a:solidFill>
                <a:latin typeface="PingFang SC"/>
              </a:rPr>
              <a:t>学习挑战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24912" y="279989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0D2238"/>
                </a:solidFill>
                <a:latin typeface="PingFang SC"/>
              </a:rPr>
              <a:t>爬塔节点、诊断房、战斗房、补给房和 Boss 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3487521"/>
            <a:ext cx="9966960" cy="705916"/>
          </a:xfrm>
          <a:prstGeom prst="roundRect">
            <a:avLst/>
          </a:prstGeom>
          <a:solidFill>
            <a:srgbClr val="E8FAF3"/>
          </a:solidFill>
          <a:ln w="12700">
            <a:solidFill>
              <a:srgbClr val="20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53312" y="3652113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0A779"/>
                </a:solidFill>
                <a:latin typeface="PingFang SC"/>
              </a:rPr>
              <a:t>数据沉淀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24912" y="3652113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0D2238"/>
                </a:solidFill>
                <a:latin typeface="PingFang SC"/>
              </a:rPr>
              <a:t>作答、节点状态、掌握度、错题、能力变化和行为记录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339742"/>
            <a:ext cx="9966960" cy="705916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D89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3312" y="4504334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89A25"/>
                </a:solidFill>
                <a:latin typeface="PingFang SC"/>
              </a:rPr>
              <a:t>智能反馈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24912" y="4504334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0D2238"/>
                </a:solidFill>
                <a:latin typeface="PingFang SC"/>
              </a:rPr>
              <a:t>知识抽取、路线推荐、错因诊断和教学建议生成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7280" y="5191963"/>
            <a:ext cx="9966960" cy="705916"/>
          </a:xfrm>
          <a:prstGeom prst="roundRect">
            <a:avLst/>
          </a:prstGeom>
          <a:solidFill>
            <a:srgbClr val="FFECEF"/>
          </a:solidFill>
          <a:ln w="12700">
            <a:solidFill>
              <a:srgbClr val="D9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53312" y="5356555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95D6A"/>
                </a:solidFill>
                <a:latin typeface="PingFang SC"/>
              </a:rPr>
              <a:t>教学干预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24912" y="5356555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0D2238"/>
                </a:solidFill>
                <a:latin typeface="PingFang SC"/>
              </a:rPr>
              <a:t>学情分析、风险提醒、学生画像和精准任务分配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92840" y="644652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6B86"/>
                </a:solidFill>
                <a:latin typeface="PingFang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9164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78892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98348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0807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" y="201168"/>
            <a:ext cx="1051560" cy="4114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6446520"/>
            <a:ext cx="960120" cy="41148"/>
          </a:xfrm>
          <a:prstGeom prst="rect">
            <a:avLst/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219456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6464808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10896"/>
            <a:ext cx="1234440" cy="310896"/>
          </a:xfrm>
          <a:prstGeom prst="roundRect">
            <a:avLst/>
          </a:prstGeom>
          <a:solidFill>
            <a:srgbClr val="E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8EA8"/>
                </a:solidFill>
                <a:latin typeface="PingFang SC"/>
              </a:rPr>
              <a:t>模块划分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8368"/>
            <a:ext cx="73152" cy="65836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94944"/>
            <a:ext cx="749807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D2238"/>
                </a:solidFill>
                <a:latin typeface="PingFang SC"/>
              </a:rPr>
              <a:t>五个业务模块与一个 AI Agent 支撑模块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0700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26B86"/>
                </a:solidFill>
                <a:latin typeface="PingFang SC"/>
              </a:rPr>
              <a:t>模块划分对应数据闭环中的不同职责，便于后续扩展和国产化部署。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1737360"/>
            <a:ext cx="3337560" cy="141732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1901952"/>
            <a:ext cx="2935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D6FE8"/>
                </a:solidFill>
                <a:latin typeface="PingFang SC"/>
              </a:rPr>
              <a:t>课程内容与知识组织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2249424"/>
            <a:ext cx="29352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课程、章节、资源、知识点、知识关系、能力点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1737360"/>
            <a:ext cx="3337560" cy="1417320"/>
          </a:xfrm>
          <a:prstGeom prst="roundRect">
            <a:avLst/>
          </a:prstGeom>
          <a:solidFill>
            <a:srgbClr val="DDF7F4"/>
          </a:solidFill>
          <a:ln w="12700">
            <a:solidFill>
              <a:srgbClr val="0B8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1901952"/>
            <a:ext cx="2935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0B8EA8"/>
                </a:solidFill>
                <a:latin typeface="PingFang SC"/>
              </a:rPr>
              <a:t>学习任务与过程跟踪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2249424"/>
            <a:ext cx="29352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学习任务、节点状态、任务提交、答题过程、通关记录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1737360"/>
            <a:ext cx="3337560" cy="1417320"/>
          </a:xfrm>
          <a:prstGeom prst="roundRect">
            <a:avLst/>
          </a:prstGeom>
          <a:solidFill>
            <a:srgbClr val="E8FAF3"/>
          </a:solidFill>
          <a:ln w="12700">
            <a:solidFill>
              <a:srgbClr val="20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76488" y="1901952"/>
            <a:ext cx="2935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20A779"/>
                </a:solidFill>
                <a:latin typeface="PingFang SC"/>
              </a:rPr>
              <a:t>测评与成果评价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6488" y="2249424"/>
            <a:ext cx="29352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题库、测验、作答结果、AI 批改、评价记录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611879"/>
            <a:ext cx="3337560" cy="1417320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D89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3776472"/>
            <a:ext cx="2935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D89A25"/>
                </a:solidFill>
                <a:latin typeface="PingFang SC"/>
              </a:rPr>
              <a:t>学生画像与个性化学习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4123944"/>
            <a:ext cx="29352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掌握度、能力分数、成长历史、推荐内容、成就系统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80560" y="3611879"/>
            <a:ext cx="3337560" cy="1417320"/>
          </a:xfrm>
          <a:prstGeom prst="roundRect">
            <a:avLst/>
          </a:prstGeom>
          <a:solidFill>
            <a:srgbClr val="FFECEF"/>
          </a:solidFill>
          <a:ln w="12700">
            <a:solidFill>
              <a:srgbClr val="D9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81728" y="3776472"/>
            <a:ext cx="2935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D95D6A"/>
                </a:solidFill>
                <a:latin typeface="PingFang SC"/>
              </a:rPr>
              <a:t>学情分析与教学决策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1728" y="4123944"/>
            <a:ext cx="29352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班级表现、共性错误、风险学生、教学报告、干预建议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75320" y="3611879"/>
            <a:ext cx="3337560" cy="141732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76488" y="3776472"/>
            <a:ext cx="2935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D6FE8"/>
                </a:solidFill>
                <a:latin typeface="PingFang SC"/>
              </a:rPr>
              <a:t>AI Agent 支撑模块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6488" y="4123944"/>
            <a:ext cx="29352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知识图谱构建、智能问答、个性化推荐、主观评价、教学分析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644652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6B86"/>
                </a:solidFill>
                <a:latin typeface="PingFang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9164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78892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98348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0807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" y="201168"/>
            <a:ext cx="1051560" cy="4114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6446520"/>
            <a:ext cx="960120" cy="41148"/>
          </a:xfrm>
          <a:prstGeom prst="rect">
            <a:avLst/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219456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6464808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10896"/>
            <a:ext cx="1234440" cy="310896"/>
          </a:xfrm>
          <a:prstGeom prst="roundRect">
            <a:avLst/>
          </a:prstGeom>
          <a:solidFill>
            <a:srgbClr val="E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8EA8"/>
                </a:solidFill>
                <a:latin typeface="PingFang SC"/>
              </a:rPr>
              <a:t>核心创新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8368"/>
            <a:ext cx="73152" cy="65836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94944"/>
            <a:ext cx="749807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D2238"/>
                </a:solidFill>
                <a:latin typeface="PingFang SC"/>
              </a:rPr>
              <a:t>爬塔式学习系统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0700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26B86"/>
                </a:solidFill>
                <a:latin typeface="PingFang SC"/>
              </a:rPr>
              <a:t>将 Python 课程抽象为学习塔，将知识点组织为楼层和节点，将题目练习转化为房间挑战。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1737360"/>
            <a:ext cx="4937760" cy="71506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" y="1901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6FE8"/>
                </a:solidFill>
                <a:latin typeface="PingFang SC"/>
              </a:rPr>
              <a:t>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96312" y="1901952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0D2238"/>
                </a:solidFill>
                <a:latin typeface="PingFang SC"/>
              </a:rPr>
              <a:t>对应一门课程或完整学习主题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2598724"/>
            <a:ext cx="4937760" cy="715060"/>
          </a:xfrm>
          <a:prstGeom prst="roundRect">
            <a:avLst/>
          </a:prstGeom>
          <a:solidFill>
            <a:srgbClr val="DDF7F4"/>
          </a:solidFill>
          <a:ln w="12700">
            <a:solidFill>
              <a:srgbClr val="0B8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4712" y="276331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8EA8"/>
                </a:solidFill>
                <a:latin typeface="PingFang SC"/>
              </a:rPr>
              <a:t>章节区域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96312" y="276331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0D2238"/>
                </a:solidFill>
                <a:latin typeface="PingFang SC"/>
              </a:rPr>
              <a:t>对应课程阶段，如基础语法、数据处理、综合实践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3460089"/>
            <a:ext cx="4937760" cy="715060"/>
          </a:xfrm>
          <a:prstGeom prst="roundRect">
            <a:avLst/>
          </a:prstGeom>
          <a:solidFill>
            <a:srgbClr val="E8FAF3"/>
          </a:solidFill>
          <a:ln w="12700">
            <a:solidFill>
              <a:srgbClr val="20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4712" y="3624681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0A779"/>
                </a:solidFill>
                <a:latin typeface="PingFang SC"/>
              </a:rPr>
              <a:t>楼层节点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96312" y="3624681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0D2238"/>
                </a:solidFill>
                <a:latin typeface="PingFang SC"/>
              </a:rPr>
              <a:t>对应具体知识点或能力点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4321454"/>
            <a:ext cx="4937760" cy="715060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D89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4712" y="448604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89A25"/>
                </a:solidFill>
                <a:latin typeface="PingFang SC"/>
              </a:rPr>
              <a:t>房间类型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96312" y="448604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0D2238"/>
                </a:solidFill>
                <a:latin typeface="PingFang SC"/>
              </a:rPr>
              <a:t>对应诊断、训练、复盘、补给和综合检验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5182819"/>
            <a:ext cx="4937760" cy="715060"/>
          </a:xfrm>
          <a:prstGeom prst="roundRect">
            <a:avLst/>
          </a:prstGeom>
          <a:solidFill>
            <a:srgbClr val="FFECEF"/>
          </a:solidFill>
          <a:ln w="12700">
            <a:solidFill>
              <a:srgbClr val="D9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24712" y="5347411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95D6A"/>
                </a:solidFill>
                <a:latin typeface="PingFang SC"/>
              </a:rPr>
              <a:t>通关条件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96312" y="5347411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0D2238"/>
                </a:solidFill>
                <a:latin typeface="PingFang SC"/>
              </a:rPr>
              <a:t>由掌握度、答题表现和节点状态共同决定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6520" y="1828800"/>
            <a:ext cx="45262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B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12280" y="217627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D6FE8"/>
                </a:solidFill>
                <a:latin typeface="PingFang SC"/>
              </a:rPr>
              <a:t>设计目的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2788920"/>
            <a:ext cx="3474720" cy="1417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0D2238"/>
                </a:solidFill>
                <a:latin typeface="PingFang SC"/>
              </a:rPr>
              <a:t>让学生拥有明确的阶段目标。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0D2238"/>
                </a:solidFill>
                <a:latin typeface="PingFang SC"/>
              </a:rPr>
              <a:t>让练习结果产生即时反馈。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0D2238"/>
                </a:solidFill>
                <a:latin typeface="PingFang SC"/>
              </a:rPr>
              <a:t>让薄弱点修复进入下一步路线。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0D2238"/>
                </a:solidFill>
                <a:latin typeface="PingFang SC"/>
              </a:rPr>
              <a:t>让教师能够看到过程数据，而非只看到最终分数。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644652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6B86"/>
                </a:solidFill>
                <a:latin typeface="PingFang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9164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78892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98348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0807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" y="201168"/>
            <a:ext cx="1051560" cy="4114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6446520"/>
            <a:ext cx="960120" cy="41148"/>
          </a:xfrm>
          <a:prstGeom prst="rect">
            <a:avLst/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219456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6464808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10896"/>
            <a:ext cx="1234440" cy="310896"/>
          </a:xfrm>
          <a:prstGeom prst="roundRect">
            <a:avLst/>
          </a:prstGeom>
          <a:solidFill>
            <a:srgbClr val="E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8EA8"/>
                </a:solidFill>
                <a:latin typeface="PingFang SC"/>
              </a:rPr>
              <a:t>教学映射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8368"/>
            <a:ext cx="73152" cy="65836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94944"/>
            <a:ext cx="749807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D2238"/>
                </a:solidFill>
                <a:latin typeface="PingFang SC"/>
              </a:rPr>
              <a:t>游戏元素对应明确教学任务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0700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26B86"/>
                </a:solidFill>
                <a:latin typeface="PingFang SC"/>
              </a:rPr>
              <a:t>爬塔系统的关键在于把游戏机制转化为教学机制。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1691640"/>
            <a:ext cx="4800600" cy="91440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1856232"/>
            <a:ext cx="4398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D6FE8"/>
                </a:solidFill>
                <a:latin typeface="PingFang SC"/>
              </a:rPr>
              <a:t>诊断房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2203704"/>
            <a:ext cx="4398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判断当前知识点掌握情况，决定是否进入训练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691640"/>
            <a:ext cx="4800600" cy="914400"/>
          </a:xfrm>
          <a:prstGeom prst="roundRect">
            <a:avLst/>
          </a:prstGeom>
          <a:solidFill>
            <a:srgbClr val="DDF7F4"/>
          </a:solidFill>
          <a:ln w="12700">
            <a:solidFill>
              <a:srgbClr val="0B8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7" y="1856232"/>
            <a:ext cx="4398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0B8EA8"/>
                </a:solidFill>
                <a:latin typeface="PingFang SC"/>
              </a:rPr>
              <a:t>普通战斗房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7" y="2203704"/>
            <a:ext cx="4398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完成基础训练，巩固当前知识点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3017520"/>
            <a:ext cx="4800600" cy="914400"/>
          </a:xfrm>
          <a:prstGeom prst="roundRect">
            <a:avLst/>
          </a:prstGeom>
          <a:solidFill>
            <a:srgbClr val="E8FAF3"/>
          </a:solidFill>
          <a:ln w="12700">
            <a:solidFill>
              <a:srgbClr val="20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3182112"/>
            <a:ext cx="4398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20A779"/>
                </a:solidFill>
                <a:latin typeface="PingFang SC"/>
              </a:rPr>
              <a:t>精英战斗房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3529584"/>
            <a:ext cx="4398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处理高难度题目和易错知识点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017520"/>
            <a:ext cx="4800600" cy="914400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D89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7" y="3182112"/>
            <a:ext cx="4398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D89A25"/>
                </a:solidFill>
                <a:latin typeface="PingFang SC"/>
              </a:rPr>
              <a:t>Boss 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7" y="3529584"/>
            <a:ext cx="4398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进行阶段性综合测评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343400"/>
            <a:ext cx="4800600" cy="914400"/>
          </a:xfrm>
          <a:prstGeom prst="roundRect">
            <a:avLst/>
          </a:prstGeom>
          <a:solidFill>
            <a:srgbClr val="FFECEF"/>
          </a:solidFill>
          <a:ln w="12700">
            <a:solidFill>
              <a:srgbClr val="D9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" y="4507992"/>
            <a:ext cx="4398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D95D6A"/>
                </a:solidFill>
                <a:latin typeface="PingFang SC"/>
              </a:rPr>
              <a:t>补给 / 营火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" y="4855464"/>
            <a:ext cx="4398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错题复盘、知识解释、状态恢复和学习建议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4343400"/>
            <a:ext cx="4800600" cy="91440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4807" y="4507992"/>
            <a:ext cx="4398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D6FE8"/>
                </a:solidFill>
                <a:latin typeface="PingFang SC"/>
              </a:rPr>
              <a:t>奖励系统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4807" y="4855464"/>
            <a:ext cx="4398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通过成长值、徽章和阶段称号反馈学习成果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644652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6B86"/>
                </a:solidFill>
                <a:latin typeface="PingFang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9164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78892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98348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0807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" y="201168"/>
            <a:ext cx="1051560" cy="4114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6446520"/>
            <a:ext cx="960120" cy="41148"/>
          </a:xfrm>
          <a:prstGeom prst="rect">
            <a:avLst/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219456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6464808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10896"/>
            <a:ext cx="1234440" cy="310896"/>
          </a:xfrm>
          <a:prstGeom prst="roundRect">
            <a:avLst/>
          </a:prstGeom>
          <a:solidFill>
            <a:srgbClr val="E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8EA8"/>
                </a:solidFill>
                <a:latin typeface="PingFang SC"/>
              </a:rPr>
              <a:t>个性化路线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8368"/>
            <a:ext cx="73152" cy="65836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94944"/>
            <a:ext cx="749807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D2238"/>
                </a:solidFill>
                <a:latin typeface="PingFang SC"/>
              </a:rPr>
              <a:t>知识图谱、历史答题、掌握度和能力画像共同决定路径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0700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26B86"/>
                </a:solidFill>
                <a:latin typeface="PingFang SC"/>
              </a:rPr>
              <a:t>AI 给出推荐顺序，后端校验合法性，数据库记录全过程。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1828800"/>
            <a:ext cx="3429000" cy="192024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1993392"/>
            <a:ext cx="30266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D6FE8"/>
                </a:solidFill>
                <a:latin typeface="PingFang SC"/>
              </a:rPr>
              <a:t>输入依据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2340864"/>
            <a:ext cx="30266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知识点前置关系、学生正确率、错误类型、耗时、掌握度、能力点得分、节点状态。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1828800"/>
            <a:ext cx="3429000" cy="1920240"/>
          </a:xfrm>
          <a:prstGeom prst="roundRect">
            <a:avLst/>
          </a:prstGeom>
          <a:solidFill>
            <a:srgbClr val="DDF7F4"/>
          </a:solidFill>
          <a:ln w="12700">
            <a:solidFill>
              <a:srgbClr val="0B8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1993392"/>
            <a:ext cx="30266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0B8EA8"/>
                </a:solidFill>
                <a:latin typeface="PingFang SC"/>
              </a:rPr>
              <a:t>AI 作用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2340864"/>
            <a:ext cx="30266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生成推荐路线和薄弱点修复顺序，帮助学生从当前状态进入下一步学习任务。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1828800"/>
            <a:ext cx="3429000" cy="1920240"/>
          </a:xfrm>
          <a:prstGeom prst="roundRect">
            <a:avLst/>
          </a:prstGeom>
          <a:solidFill>
            <a:srgbClr val="E8FAF3"/>
          </a:solidFill>
          <a:ln w="12700">
            <a:solidFill>
              <a:srgbClr val="20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8" y="1993392"/>
            <a:ext cx="30266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20A779"/>
                </a:solidFill>
                <a:latin typeface="PingFang SC"/>
              </a:rPr>
              <a:t>系统约束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2340864"/>
            <a:ext cx="30266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后端校验课程边界、节点合法性和通关状态；数据库记录 run、node、attempt，保证可追溯。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4709160"/>
            <a:ext cx="8366760" cy="713232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40280" y="4937760"/>
            <a:ext cx="7726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D6FE8"/>
                </a:solidFill>
                <a:latin typeface="PingFang SC"/>
              </a:rPr>
              <a:t>路线设计目标：既体现个性化，又保持业务状态可靠、可解释、可回溯。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4652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6B86"/>
                </a:solidFill>
                <a:latin typeface="PingFang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9164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78892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98348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0807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" y="201168"/>
            <a:ext cx="1051560" cy="4114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6446520"/>
            <a:ext cx="960120" cy="41148"/>
          </a:xfrm>
          <a:prstGeom prst="rect">
            <a:avLst/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219456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6464808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10896"/>
            <a:ext cx="1234440" cy="310896"/>
          </a:xfrm>
          <a:prstGeom prst="roundRect">
            <a:avLst/>
          </a:prstGeom>
          <a:solidFill>
            <a:srgbClr val="E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8EA8"/>
                </a:solidFill>
                <a:latin typeface="PingFang SC"/>
              </a:rPr>
              <a:t>AI 设计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8368"/>
            <a:ext cx="73152" cy="65836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94944"/>
            <a:ext cx="749807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D2238"/>
                </a:solidFill>
                <a:latin typeface="PingFang SC"/>
              </a:rPr>
              <a:t>AI Agent 嵌入多个业务环节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0700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26B86"/>
                </a:solidFill>
                <a:latin typeface="PingFang SC"/>
              </a:rPr>
              <a:t>AI 能力覆盖内容结构化、学习诊断、评价推荐和教学分析。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1874519"/>
            <a:ext cx="1874519" cy="214884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2039112"/>
            <a:ext cx="1472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D6FE8"/>
                </a:solidFill>
                <a:latin typeface="PingFang SC"/>
              </a:rPr>
              <a:t>内容侧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2386584"/>
            <a:ext cx="147218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知识点抽取、知识关系生成、能力点建议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0" y="1874519"/>
            <a:ext cx="1874519" cy="2148840"/>
          </a:xfrm>
          <a:prstGeom prst="roundRect">
            <a:avLst/>
          </a:prstGeom>
          <a:solidFill>
            <a:srgbClr val="DDF7F4"/>
          </a:solidFill>
          <a:ln w="12700">
            <a:solidFill>
              <a:srgbClr val="0B8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0128" y="2039112"/>
            <a:ext cx="1472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0B8EA8"/>
                </a:solidFill>
                <a:latin typeface="PingFang SC"/>
              </a:rPr>
              <a:t>学习侧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0128" y="2386584"/>
            <a:ext cx="147218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题目提示、错因解释、复习建议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49240" y="1874519"/>
            <a:ext cx="1874519" cy="2148840"/>
          </a:xfrm>
          <a:prstGeom prst="roundRect">
            <a:avLst/>
          </a:prstGeom>
          <a:solidFill>
            <a:srgbClr val="E8FAF3"/>
          </a:solidFill>
          <a:ln w="12700">
            <a:solidFill>
              <a:srgbClr val="20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50408" y="2039112"/>
            <a:ext cx="1472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20A779"/>
                </a:solidFill>
                <a:latin typeface="PingFang SC"/>
              </a:rPr>
              <a:t>评价侧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50408" y="2386584"/>
            <a:ext cx="147218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主观题、报告类作业和开放答案辅助评价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1874519"/>
            <a:ext cx="1874519" cy="2148840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D89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90688" y="2039112"/>
            <a:ext cx="1472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D89A25"/>
                </a:solidFill>
                <a:latin typeface="PingFang SC"/>
              </a:rPr>
              <a:t>推荐侧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90688" y="2386584"/>
            <a:ext cx="147218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结合画像和知识图谱生成个性化路径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29800" y="1874519"/>
            <a:ext cx="1874519" cy="2148840"/>
          </a:xfrm>
          <a:prstGeom prst="roundRect">
            <a:avLst/>
          </a:prstGeom>
          <a:solidFill>
            <a:srgbClr val="FFECEF"/>
          </a:solidFill>
          <a:ln w="12700">
            <a:solidFill>
              <a:srgbClr val="D9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30968" y="2039112"/>
            <a:ext cx="1472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D95D6A"/>
                </a:solidFill>
                <a:latin typeface="PingFang SC"/>
              </a:rPr>
              <a:t>教学侧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0968" y="2386584"/>
            <a:ext cx="147218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共性错误聚类、风险识别和教学建议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691640" y="4892040"/>
            <a:ext cx="88239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B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11680" y="5120640"/>
            <a:ext cx="8138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B8EA8"/>
                </a:solidFill>
                <a:latin typeface="PingFang SC"/>
              </a:rPr>
              <a:t>设计原则：AI 给建议，后端做校验，数据库留痕，教师可追溯。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92840" y="644652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6B86"/>
                </a:solidFill>
                <a:latin typeface="PingFang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9164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78892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98348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0807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" y="201168"/>
            <a:ext cx="1051560" cy="4114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6446520"/>
            <a:ext cx="960120" cy="41148"/>
          </a:xfrm>
          <a:prstGeom prst="rect">
            <a:avLst/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219456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6464808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10896"/>
            <a:ext cx="1234440" cy="310896"/>
          </a:xfrm>
          <a:prstGeom prst="roundRect">
            <a:avLst/>
          </a:prstGeom>
          <a:solidFill>
            <a:srgbClr val="E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8EA8"/>
                </a:solidFill>
                <a:latin typeface="PingFang SC"/>
              </a:rPr>
              <a:t>图谱设计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8368"/>
            <a:ext cx="73152" cy="65836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94944"/>
            <a:ext cx="749807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D2238"/>
                </a:solidFill>
                <a:latin typeface="PingFang SC"/>
              </a:rPr>
              <a:t>知识图谱与能力图谱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0700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26B86"/>
                </a:solidFill>
                <a:latin typeface="PingFang SC"/>
              </a:rPr>
              <a:t>知识图谱描述知识关系，能力图谱描述课程目标与学生能力成长。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1874519"/>
            <a:ext cx="3291840" cy="201168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2039112"/>
            <a:ext cx="2889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D6FE8"/>
                </a:solidFill>
                <a:latin typeface="PingFang SC"/>
              </a:rPr>
              <a:t>知识图谱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2386584"/>
            <a:ext cx="288950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描述知识点之间的前置、关联、强化和综合应用关系。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1874519"/>
            <a:ext cx="3291840" cy="2011680"/>
          </a:xfrm>
          <a:prstGeom prst="roundRect">
            <a:avLst/>
          </a:prstGeom>
          <a:solidFill>
            <a:srgbClr val="DDF7F4"/>
          </a:solidFill>
          <a:ln w="12700">
            <a:solidFill>
              <a:srgbClr val="0B8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6007" y="2039112"/>
            <a:ext cx="2889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0B8EA8"/>
                </a:solidFill>
                <a:latin typeface="PingFang SC"/>
              </a:rPr>
              <a:t>能力图谱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7" y="2386584"/>
            <a:ext cx="288950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承接课程目标，例如语法理解、文件操作、异常处理、数据分析和项目实践。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1874519"/>
            <a:ext cx="3291840" cy="2011680"/>
          </a:xfrm>
          <a:prstGeom prst="roundRect">
            <a:avLst/>
          </a:prstGeom>
          <a:solidFill>
            <a:srgbClr val="E8FAF3"/>
          </a:solidFill>
          <a:ln w="12700">
            <a:solidFill>
              <a:srgbClr val="20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8" y="2039112"/>
            <a:ext cx="2889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20A779"/>
                </a:solidFill>
                <a:latin typeface="PingFang SC"/>
              </a:rPr>
              <a:t>映射价值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2386584"/>
            <a:ext cx="288950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学生答题结果可以转化为知识掌握度和能力成长数据。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0" y="4709160"/>
            <a:ext cx="8503920" cy="731520"/>
          </a:xfrm>
          <a:prstGeom prst="roundRect">
            <a:avLst/>
          </a:prstGeom>
          <a:solidFill>
            <a:srgbClr val="E5FAFF"/>
          </a:solidFill>
          <a:ln w="12700">
            <a:solidFill>
              <a:srgbClr val="13B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48840" y="4956048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D6FE8"/>
                </a:solidFill>
                <a:latin typeface="PingFang SC"/>
              </a:rPr>
              <a:t>系统可回答：错在哪里、对应哪个知识点、影响哪项能力。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4652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6B86"/>
                </a:solidFill>
                <a:latin typeface="PingFang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9164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78892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98348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0807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" y="201168"/>
            <a:ext cx="1051560" cy="4114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6446520"/>
            <a:ext cx="960120" cy="41148"/>
          </a:xfrm>
          <a:prstGeom prst="rect">
            <a:avLst/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219456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6464808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10896"/>
            <a:ext cx="1234440" cy="310896"/>
          </a:xfrm>
          <a:prstGeom prst="roundRect">
            <a:avLst/>
          </a:prstGeom>
          <a:solidFill>
            <a:srgbClr val="E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8EA8"/>
                </a:solidFill>
                <a:latin typeface="PingFang SC"/>
              </a:rPr>
              <a:t>国产数据库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8368"/>
            <a:ext cx="73152" cy="65836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94944"/>
            <a:ext cx="749807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D2238"/>
                </a:solidFill>
                <a:latin typeface="PingFang SC"/>
              </a:rPr>
              <a:t>KingbaseES V9 与数据模型设计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0700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26B86"/>
                </a:solidFill>
                <a:latin typeface="PingFang SC"/>
              </a:rPr>
              <a:t>数据库围绕课程、学习任务、测评、画像和学情分析建立业务表结构。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1828800"/>
            <a:ext cx="3429000" cy="205740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1993392"/>
            <a:ext cx="30266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D6FE8"/>
                </a:solidFill>
                <a:latin typeface="PingFang SC"/>
              </a:rPr>
              <a:t>业务闭环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2340864"/>
            <a:ext cx="302666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课程、知识点、任务、题目、提交、掌握度、推荐和分析等表共同支撑学习闭环。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1828800"/>
            <a:ext cx="3429000" cy="2057400"/>
          </a:xfrm>
          <a:prstGeom prst="roundRect">
            <a:avLst/>
          </a:prstGeom>
          <a:solidFill>
            <a:srgbClr val="DDF7F4"/>
          </a:solidFill>
          <a:ln w="12700">
            <a:solidFill>
              <a:srgbClr val="0B8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1993392"/>
            <a:ext cx="30266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0B8EA8"/>
                </a:solidFill>
                <a:latin typeface="PingFang SC"/>
              </a:rPr>
              <a:t>国产化适配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2340864"/>
            <a:ext cx="302666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业务 ID 以 VARCHAR 为主，规避国产数据库中整数与字符串比较差异。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1828800"/>
            <a:ext cx="3429000" cy="2057400"/>
          </a:xfrm>
          <a:prstGeom prst="roundRect">
            <a:avLst/>
          </a:prstGeom>
          <a:solidFill>
            <a:srgbClr val="E8FAF3"/>
          </a:solidFill>
          <a:ln w="12700">
            <a:solidFill>
              <a:srgbClr val="20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1993392"/>
            <a:ext cx="30266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20A779"/>
                </a:solidFill>
                <a:latin typeface="PingFang SC"/>
              </a:rPr>
              <a:t>扩展设计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2340864"/>
            <a:ext cx="302666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服务层维护逻辑关联，减少外键强绑定，提高扩展性和迁移灵活性。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4754880"/>
            <a:ext cx="83210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B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40280" y="4983480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>
                <a:solidFill>
                  <a:srgbClr val="1D6FE8"/>
                </a:solidFill>
                <a:latin typeface="PingFang SC"/>
              </a:rPr>
              <a:t>独立 KingbaseES 配置支持国产化部署和测试环境切换。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4652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6B86"/>
                </a:solidFill>
                <a:latin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9164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78892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98348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0807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" y="201168"/>
            <a:ext cx="1051560" cy="4114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6446520"/>
            <a:ext cx="960120" cy="41148"/>
          </a:xfrm>
          <a:prstGeom prst="rect">
            <a:avLst/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219456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6464808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10896"/>
            <a:ext cx="1234440" cy="310896"/>
          </a:xfrm>
          <a:prstGeom prst="roundRect">
            <a:avLst/>
          </a:prstGeom>
          <a:solidFill>
            <a:srgbClr val="E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8EA8"/>
                </a:solidFill>
                <a:latin typeface="PingFang SC"/>
              </a:rPr>
              <a:t>学生画像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8368"/>
            <a:ext cx="73152" cy="65836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94944"/>
            <a:ext cx="749807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D2238"/>
                </a:solidFill>
                <a:latin typeface="PingFang SC"/>
              </a:rPr>
              <a:t>对学习过程进行综合建模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0700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26B86"/>
                </a:solidFill>
                <a:latin typeface="PingFang SC"/>
              </a:rPr>
              <a:t>画像用于学生端学习建议，也用于教师端风险识别和精准干预。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4440" y="1783080"/>
            <a:ext cx="9692640" cy="71506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0472" y="194767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6FE8"/>
                </a:solidFill>
                <a:latin typeface="PingFang SC"/>
              </a:rPr>
              <a:t>知识掌握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62072" y="1947672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0D2238"/>
                </a:solidFill>
                <a:latin typeface="PingFang SC"/>
              </a:rPr>
              <a:t>知识点掌握度、薄弱点和待复盘节点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34440" y="2644444"/>
            <a:ext cx="9692640" cy="715060"/>
          </a:xfrm>
          <a:prstGeom prst="roundRect">
            <a:avLst/>
          </a:prstGeom>
          <a:solidFill>
            <a:srgbClr val="DDF7F4"/>
          </a:solidFill>
          <a:ln w="12700">
            <a:solidFill>
              <a:srgbClr val="0B8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90472" y="280903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8EA8"/>
                </a:solidFill>
                <a:latin typeface="PingFang SC"/>
              </a:rPr>
              <a:t>能力成长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62072" y="2809036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0D2238"/>
                </a:solidFill>
                <a:latin typeface="PingFang SC"/>
              </a:rPr>
              <a:t>能力点得分、成长历史和阶段趋势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34440" y="3505809"/>
            <a:ext cx="9692640" cy="715060"/>
          </a:xfrm>
          <a:prstGeom prst="roundRect">
            <a:avLst/>
          </a:prstGeom>
          <a:solidFill>
            <a:srgbClr val="E8FAF3"/>
          </a:solidFill>
          <a:ln w="12700">
            <a:solidFill>
              <a:srgbClr val="20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90472" y="3670401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0A779"/>
                </a:solidFill>
                <a:latin typeface="PingFang SC"/>
              </a:rPr>
              <a:t>学习表现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62072" y="3670401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0D2238"/>
                </a:solidFill>
                <a:latin typeface="PingFang SC"/>
              </a:rPr>
              <a:t>作答结果、错题、耗时和任务完成情况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34440" y="4367174"/>
            <a:ext cx="9692640" cy="715060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D89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90472" y="453176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89A25"/>
                </a:solidFill>
                <a:latin typeface="PingFang SC"/>
              </a:rPr>
              <a:t>学习投入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62072" y="4531766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0D2238"/>
                </a:solidFill>
                <a:latin typeface="PingFang SC"/>
              </a:rPr>
              <a:t>行为记录、连续学习、活跃度和最近活动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34440" y="5228539"/>
            <a:ext cx="9692640" cy="715060"/>
          </a:xfrm>
          <a:prstGeom prst="roundRect">
            <a:avLst/>
          </a:prstGeom>
          <a:solidFill>
            <a:srgbClr val="FFECEF"/>
          </a:solidFill>
          <a:ln w="12700">
            <a:solidFill>
              <a:srgbClr val="D9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0472" y="5393131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95D6A"/>
                </a:solidFill>
                <a:latin typeface="PingFang SC"/>
              </a:rPr>
              <a:t>推荐反馈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62072" y="5393131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0D2238"/>
                </a:solidFill>
                <a:latin typeface="PingFang SC"/>
              </a:rPr>
              <a:t>个性化推荐结果、徽章、称号和成就记录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92840" y="644652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6B86"/>
                </a:solidFill>
                <a:latin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9164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78892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98348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0807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" y="201168"/>
            <a:ext cx="1051560" cy="4114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6446520"/>
            <a:ext cx="960120" cy="41148"/>
          </a:xfrm>
          <a:prstGeom prst="rect">
            <a:avLst/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219456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6464808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10896"/>
            <a:ext cx="1234440" cy="310896"/>
          </a:xfrm>
          <a:prstGeom prst="roundRect">
            <a:avLst/>
          </a:prstGeom>
          <a:solidFill>
            <a:srgbClr val="E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8EA8"/>
                </a:solidFill>
                <a:latin typeface="PingFang SC"/>
              </a:rPr>
              <a:t>教师端设计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8368"/>
            <a:ext cx="73152" cy="65836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94944"/>
            <a:ext cx="749807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D2238"/>
                </a:solidFill>
                <a:latin typeface="PingFang SC"/>
              </a:rPr>
              <a:t>从结果统计转向过程洞察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0700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26B86"/>
                </a:solidFill>
                <a:latin typeface="PingFang SC"/>
              </a:rPr>
              <a:t>教师端重点服务教学决策，而不是只提供后台管理入口。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1828800"/>
            <a:ext cx="3200400" cy="205740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1993392"/>
            <a:ext cx="2798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D6FE8"/>
                </a:solidFill>
                <a:latin typeface="PingFang SC"/>
              </a:rPr>
              <a:t>班级整体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2340864"/>
            <a:ext cx="279806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客观作答数、错误数、错误率、薄弱知识点和题型表现。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1828800"/>
            <a:ext cx="3200400" cy="2057400"/>
          </a:xfrm>
          <a:prstGeom prst="roundRect">
            <a:avLst/>
          </a:prstGeom>
          <a:solidFill>
            <a:srgbClr val="DDF7F4"/>
          </a:solidFill>
          <a:ln w="12700">
            <a:solidFill>
              <a:srgbClr val="0B8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1993392"/>
            <a:ext cx="2798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0B8EA8"/>
                </a:solidFill>
                <a:latin typeface="PingFang SC"/>
              </a:rPr>
              <a:t>个体差异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2340864"/>
            <a:ext cx="279806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学习状态、学习投入、基础掌握、成长趋势和风险信号。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1828800"/>
            <a:ext cx="3200400" cy="2057400"/>
          </a:xfrm>
          <a:prstGeom prst="roundRect">
            <a:avLst/>
          </a:prstGeom>
          <a:solidFill>
            <a:srgbClr val="E8FAF3"/>
          </a:solidFill>
          <a:ln w="12700">
            <a:solidFill>
              <a:srgbClr val="20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8" y="1993392"/>
            <a:ext cx="2798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20A779"/>
                </a:solidFill>
                <a:latin typeface="PingFang SC"/>
              </a:rPr>
              <a:t>干预动作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2340864"/>
            <a:ext cx="279806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复习安排、专项练习、课堂讲解和个性化任务分配。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0" y="4709160"/>
            <a:ext cx="8595360" cy="73152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496519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D6FE8"/>
                </a:solidFill>
                <a:latin typeface="PingFang SC"/>
              </a:rPr>
              <a:t>教师端定位：教学决策支持中心。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4652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6B86"/>
                </a:solidFill>
                <a:latin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9164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78892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98348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0807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" y="201168"/>
            <a:ext cx="1051560" cy="4114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6446520"/>
            <a:ext cx="960120" cy="41148"/>
          </a:xfrm>
          <a:prstGeom prst="rect">
            <a:avLst/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219456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6464808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10896"/>
            <a:ext cx="1234440" cy="310896"/>
          </a:xfrm>
          <a:prstGeom prst="roundRect">
            <a:avLst/>
          </a:prstGeom>
          <a:solidFill>
            <a:srgbClr val="E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8EA8"/>
                </a:solidFill>
                <a:latin typeface="PingFang SC"/>
              </a:rPr>
              <a:t>测评评价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8368"/>
            <a:ext cx="73152" cy="65836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94944"/>
            <a:ext cx="749807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D2238"/>
                </a:solidFill>
                <a:latin typeface="PingFang SC"/>
              </a:rPr>
              <a:t>测评结果回流到学习闭环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0700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26B86"/>
                </a:solidFill>
                <a:latin typeface="PingFang SC"/>
              </a:rPr>
              <a:t>测评既承担知识掌握判断，也承担学习成果评价和路径调整依据。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1828800"/>
            <a:ext cx="3200400" cy="196596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1993392"/>
            <a:ext cx="2798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D6FE8"/>
                </a:solidFill>
                <a:latin typeface="PingFang SC"/>
              </a:rPr>
              <a:t>客观题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2340864"/>
            <a:ext cx="2798064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快速判断知识点掌握情况，更新诊断房与普通战斗房结果。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1828800"/>
            <a:ext cx="3200400" cy="1965960"/>
          </a:xfrm>
          <a:prstGeom prst="roundRect">
            <a:avLst/>
          </a:prstGeom>
          <a:solidFill>
            <a:srgbClr val="DDF7F4"/>
          </a:solidFill>
          <a:ln w="12700">
            <a:solidFill>
              <a:srgbClr val="0B8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1993392"/>
            <a:ext cx="2798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0B8EA8"/>
                </a:solidFill>
                <a:latin typeface="PingFang SC"/>
              </a:rPr>
              <a:t>编程题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2340864"/>
            <a:ext cx="2798064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检验语法、流程控制、文件操作和数据处理的综合应用能力。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1828800"/>
            <a:ext cx="3200400" cy="1965960"/>
          </a:xfrm>
          <a:prstGeom prst="roundRect">
            <a:avLst/>
          </a:prstGeom>
          <a:solidFill>
            <a:srgbClr val="E8FAF3"/>
          </a:solidFill>
          <a:ln w="12700">
            <a:solidFill>
              <a:srgbClr val="20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8" y="1993392"/>
            <a:ext cx="2798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20A779"/>
                </a:solidFill>
                <a:latin typeface="PingFang SC"/>
              </a:rPr>
              <a:t>主观任务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2340864"/>
            <a:ext cx="2798064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报告类和开放性答案可结合 AI 进行辅助评价。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37360" y="4617720"/>
            <a:ext cx="87325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B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4892040"/>
            <a:ext cx="8092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B8EA8"/>
                </a:solidFill>
                <a:latin typeface="PingFang SC"/>
              </a:rPr>
              <a:t>评价结果进入学生画像和爬塔节点状态，影响后续路线推荐。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4652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6B86"/>
                </a:solidFill>
                <a:latin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9164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78892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98348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0807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" y="201168"/>
            <a:ext cx="1051560" cy="4114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6446520"/>
            <a:ext cx="960120" cy="41148"/>
          </a:xfrm>
          <a:prstGeom prst="rect">
            <a:avLst/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219456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6464808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10896"/>
            <a:ext cx="1234440" cy="310896"/>
          </a:xfrm>
          <a:prstGeom prst="roundRect">
            <a:avLst/>
          </a:prstGeom>
          <a:solidFill>
            <a:srgbClr val="E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8EA8"/>
                </a:solidFill>
                <a:latin typeface="PingFang SC"/>
              </a:rPr>
              <a:t>质量保障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8368"/>
            <a:ext cx="73152" cy="65836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94944"/>
            <a:ext cx="749807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D2238"/>
                </a:solidFill>
                <a:latin typeface="PingFang SC"/>
              </a:rPr>
              <a:t>自动化测试与国产化测试工具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0700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26B86"/>
                </a:solidFill>
                <a:latin typeface="PingFang SC"/>
              </a:rPr>
              <a:t>测试重点放在爬塔链路、AI 降级链路和教师端分析链路的可靠性。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1828800"/>
            <a:ext cx="3200400" cy="201168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1993392"/>
            <a:ext cx="2798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D6FE8"/>
                </a:solidFill>
                <a:latin typeface="PingFang SC"/>
              </a:rPr>
              <a:t>后端测试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2340864"/>
            <a:ext cx="279806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覆盖业务服务、控制器、AI 服务调用和关键数据处理逻辑。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1828800"/>
            <a:ext cx="3200400" cy="2011680"/>
          </a:xfrm>
          <a:prstGeom prst="roundRect">
            <a:avLst/>
          </a:prstGeom>
          <a:solidFill>
            <a:srgbClr val="DDF7F4"/>
          </a:solidFill>
          <a:ln w="12700">
            <a:solidFill>
              <a:srgbClr val="0B8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1993392"/>
            <a:ext cx="2798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0B8EA8"/>
                </a:solidFill>
                <a:latin typeface="PingFang SC"/>
              </a:rPr>
              <a:t>前端测试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2340864"/>
            <a:ext cx="279806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覆盖 API 封装、路由跳转、游戏资源清单和关键交互逻辑。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1828800"/>
            <a:ext cx="3200400" cy="2011680"/>
          </a:xfrm>
          <a:prstGeom prst="roundRect">
            <a:avLst/>
          </a:prstGeom>
          <a:solidFill>
            <a:srgbClr val="E8FAF3"/>
          </a:solidFill>
          <a:ln w="12700">
            <a:solidFill>
              <a:srgbClr val="20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8" y="1993392"/>
            <a:ext cx="2798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20A779"/>
                </a:solidFill>
                <a:latin typeface="PingFang SC"/>
              </a:rPr>
              <a:t>国产化工具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2340864"/>
            <a:ext cx="279806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用于接口录制、脚本管理、测试任务、负载测试和性能监控。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0" y="4681728"/>
            <a:ext cx="8595360" cy="731520"/>
          </a:xfrm>
          <a:prstGeom prst="roundRect">
            <a:avLst/>
          </a:prstGeom>
          <a:solidFill>
            <a:srgbClr val="E5FAFF"/>
          </a:solidFill>
          <a:ln w="12700">
            <a:solidFill>
              <a:srgbClr val="13B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48840" y="493776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20" b="1">
                <a:solidFill>
                  <a:srgbClr val="1D6FE8"/>
                </a:solidFill>
                <a:latin typeface="PingFang SC"/>
              </a:rPr>
              <a:t>压力测试验证高并发访问、集中答题和教学数据统计场景下的系统稳定性。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4652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6B86"/>
                </a:solidFill>
                <a:latin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9164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78892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98348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0807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" y="201168"/>
            <a:ext cx="1051560" cy="4114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6446520"/>
            <a:ext cx="960120" cy="41148"/>
          </a:xfrm>
          <a:prstGeom prst="rect">
            <a:avLst/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219456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6464808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10896"/>
            <a:ext cx="1234440" cy="310896"/>
          </a:xfrm>
          <a:prstGeom prst="roundRect">
            <a:avLst/>
          </a:prstGeom>
          <a:solidFill>
            <a:srgbClr val="E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8EA8"/>
                </a:solidFill>
                <a:latin typeface="PingFang SC"/>
              </a:rPr>
              <a:t>推广应用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8368"/>
            <a:ext cx="73152" cy="65836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94944"/>
            <a:ext cx="749807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D2238"/>
                </a:solidFill>
                <a:latin typeface="PingFang SC"/>
              </a:rPr>
              <a:t>推广应用定位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0700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26B86"/>
                </a:solidFill>
                <a:latin typeface="PingFang SC"/>
              </a:rPr>
              <a:t>后续推广应突出学习激励、个性化学习和学习过程数据分析的特色价值。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1828800"/>
            <a:ext cx="4846320" cy="297180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1993392"/>
            <a:ext cx="44439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D6FE8"/>
                </a:solidFill>
                <a:latin typeface="PingFang SC"/>
              </a:rPr>
              <a:t>模式一：独立智慧课堂平台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2340864"/>
            <a:ext cx="4443983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面向课程组、教学团队或实训课程，提供课程建设、资源管理、任务发布、在线测评、学生画像和学情分析等完整能力。适合完整项目展示和小范围课程试点。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1828800"/>
            <a:ext cx="4846320" cy="2971800"/>
          </a:xfrm>
          <a:prstGeom prst="roundRect">
            <a:avLst/>
          </a:prstGeom>
          <a:solidFill>
            <a:srgbClr val="DDF7F4"/>
          </a:solidFill>
          <a:ln w="12700">
            <a:solidFill>
              <a:srgbClr val="0B8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47688" y="1993392"/>
            <a:ext cx="44439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0B8EA8"/>
                </a:solidFill>
                <a:latin typeface="PingFang SC"/>
              </a:rPr>
              <a:t>模式二：课堂游戏化伴随系统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2340864"/>
            <a:ext cx="4443983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在已有课堂平台之外提供学习地图、知识点闯关、成长值、徽章、阶段称号和学习挑战。该模式接入成本更低，也更能体现项目特色。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553212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D6FE8"/>
                </a:solidFill>
                <a:latin typeface="PingFang SC"/>
              </a:rPr>
              <a:t>推广重点：课堂游戏化伴随系统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4652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6B86"/>
                </a:solidFill>
                <a:latin typeface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9164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78892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98348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0807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" y="201168"/>
            <a:ext cx="1051560" cy="4114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6446520"/>
            <a:ext cx="960120" cy="41148"/>
          </a:xfrm>
          <a:prstGeom prst="rect">
            <a:avLst/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219456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6464808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10896"/>
            <a:ext cx="1234440" cy="310896"/>
          </a:xfrm>
          <a:prstGeom prst="roundRect">
            <a:avLst/>
          </a:prstGeom>
          <a:solidFill>
            <a:srgbClr val="E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8EA8"/>
                </a:solidFill>
                <a:latin typeface="PingFang SC"/>
              </a:rPr>
              <a:t>伴随系统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8368"/>
            <a:ext cx="73152" cy="65836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94944"/>
            <a:ext cx="749807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D2238"/>
                </a:solidFill>
                <a:latin typeface="PingFang SC"/>
              </a:rPr>
              <a:t>主课堂平台 + 游戏化学习空间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0700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26B86"/>
                </a:solidFill>
                <a:latin typeface="PingFang SC"/>
              </a:rPr>
              <a:t>不改变学校原有教学流程，只为学生端增加更有吸引力的学习入口。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1828800"/>
            <a:ext cx="4800600" cy="246888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1993392"/>
            <a:ext cx="4398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D6FE8"/>
                </a:solidFill>
                <a:latin typeface="PingFang SC"/>
              </a:rPr>
              <a:t>主课堂平台负责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2340864"/>
            <a:ext cx="439826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课程资源、作业发布、测验考试、成绩记录和基础教学管理。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1828800"/>
            <a:ext cx="4800600" cy="2468880"/>
          </a:xfrm>
          <a:prstGeom prst="roundRect">
            <a:avLst/>
          </a:prstGeom>
          <a:solidFill>
            <a:srgbClr val="DDF7F4"/>
          </a:solidFill>
          <a:ln w="12700">
            <a:solidFill>
              <a:srgbClr val="0B8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1993392"/>
            <a:ext cx="4398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0B8EA8"/>
                </a:solidFill>
                <a:latin typeface="PingFang SC"/>
              </a:rPr>
              <a:t>游戏化伴随系统负责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7" y="2340864"/>
            <a:ext cx="439826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知识点闯关、学习地图、成长值、徽章称号、阶段挑战、个人成长反馈和班级挑战活动。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91640" y="4983480"/>
            <a:ext cx="8823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B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5257800"/>
            <a:ext cx="8092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>
                <a:solidFill>
                  <a:srgbClr val="1D6FE8"/>
                </a:solidFill>
                <a:latin typeface="PingFang SC"/>
              </a:rPr>
              <a:t>完成学习任务 → 获得成长反馈 → 解锁新目标 → 继续学习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4652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6B86"/>
                </a:solidFill>
                <a:latin typeface="PingFang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9164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78892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98348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0807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" y="201168"/>
            <a:ext cx="1051560" cy="4114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6446520"/>
            <a:ext cx="960120" cy="41148"/>
          </a:xfrm>
          <a:prstGeom prst="rect">
            <a:avLst/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219456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6464808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10896"/>
            <a:ext cx="1234440" cy="310896"/>
          </a:xfrm>
          <a:prstGeom prst="roundRect">
            <a:avLst/>
          </a:prstGeom>
          <a:solidFill>
            <a:srgbClr val="E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8EA8"/>
                </a:solidFill>
                <a:latin typeface="PingFang SC"/>
              </a:rPr>
              <a:t>推广价值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8368"/>
            <a:ext cx="73152" cy="65836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94944"/>
            <a:ext cx="749807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D2238"/>
                </a:solidFill>
                <a:latin typeface="PingFang SC"/>
              </a:rPr>
              <a:t>课堂游戏化伴随系统更易落地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0700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26B86"/>
                </a:solidFill>
                <a:latin typeface="PingFang SC"/>
              </a:rPr>
              <a:t>该模式避开整体替换平台的高成本，聚焦学生端体验和学习激励。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1828800"/>
            <a:ext cx="4800600" cy="114300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1993392"/>
            <a:ext cx="4398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D6FE8"/>
                </a:solidFill>
                <a:latin typeface="PingFang SC"/>
              </a:rPr>
              <a:t>降低门槛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2340864"/>
            <a:ext cx="4398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学校无需放弃原有平台，只需对接账号、课程、任务和学习结果。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828800"/>
            <a:ext cx="4800600" cy="1143000"/>
          </a:xfrm>
          <a:prstGeom prst="roundRect">
            <a:avLst/>
          </a:prstGeom>
          <a:solidFill>
            <a:srgbClr val="DDF7F4"/>
          </a:solidFill>
          <a:ln w="12700">
            <a:solidFill>
              <a:srgbClr val="0B8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1968" y="1993392"/>
            <a:ext cx="4398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0B8EA8"/>
                </a:solidFill>
                <a:latin typeface="PingFang SC"/>
              </a:rPr>
              <a:t>提升参与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2340864"/>
            <a:ext cx="4398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通过闯关、成长值、徽章和称号，让学生获得持续反馈。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3520440"/>
            <a:ext cx="4800600" cy="1143000"/>
          </a:xfrm>
          <a:prstGeom prst="roundRect">
            <a:avLst/>
          </a:prstGeom>
          <a:solidFill>
            <a:srgbClr val="E8FAF3"/>
          </a:solidFill>
          <a:ln w="12700">
            <a:solidFill>
              <a:srgbClr val="20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" y="3685032"/>
            <a:ext cx="4398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20A779"/>
                </a:solidFill>
                <a:latin typeface="PingFang SC"/>
              </a:rPr>
              <a:t>多课复用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" y="4032504"/>
            <a:ext cx="4398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课程能拆分为知识点、任务和测评结果，就能生成对应学习地图。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520440"/>
            <a:ext cx="4800600" cy="1143000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D89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3685032"/>
            <a:ext cx="4398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D89A25"/>
                </a:solidFill>
                <a:latin typeface="PingFang SC"/>
              </a:rPr>
              <a:t>差异化强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4032504"/>
            <a:ext cx="4398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避开资源管理和作业发布等同质化功能，突出学生端体验。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4652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6B86"/>
                </a:solidFill>
                <a:latin typeface="PingFang S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9164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78892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98348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0807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" y="201168"/>
            <a:ext cx="1051560" cy="4114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6446520"/>
            <a:ext cx="960120" cy="41148"/>
          </a:xfrm>
          <a:prstGeom prst="rect">
            <a:avLst/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219456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6464808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10896"/>
            <a:ext cx="1234440" cy="310896"/>
          </a:xfrm>
          <a:prstGeom prst="roundRect">
            <a:avLst/>
          </a:prstGeom>
          <a:solidFill>
            <a:srgbClr val="E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8EA8"/>
                </a:solidFill>
                <a:latin typeface="PingFang SC"/>
              </a:rPr>
              <a:t>实施路径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8368"/>
            <a:ext cx="73152" cy="65836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94944"/>
            <a:ext cx="749807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D2238"/>
                </a:solidFill>
                <a:latin typeface="PingFang SC"/>
              </a:rPr>
              <a:t>从项目展示到多平台应用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0700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26B86"/>
                </a:solidFill>
                <a:latin typeface="PingFang SC"/>
              </a:rPr>
              <a:t>推广分阶段推进，先验证完整平台，再抽离游戏化伴随能力。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1783080"/>
            <a:ext cx="5212080" cy="984504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194767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6FE8"/>
                </a:solidFill>
                <a:latin typeface="PingFang SC"/>
              </a:rPr>
              <a:t>第一阶段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2032" y="194767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0D2238"/>
                </a:solidFill>
                <a:latin typeface="PingFang SC"/>
              </a:rPr>
              <a:t>完整智慧课堂平台用于课程实训展示、校内课程试点和功能验证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2913888"/>
            <a:ext cx="5212080" cy="984504"/>
          </a:xfrm>
          <a:prstGeom prst="roundRect">
            <a:avLst/>
          </a:prstGeom>
          <a:solidFill>
            <a:srgbClr val="DDF7F4"/>
          </a:solidFill>
          <a:ln w="12700">
            <a:solidFill>
              <a:srgbClr val="0B8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0432" y="3078480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8EA8"/>
                </a:solidFill>
                <a:latin typeface="PingFang SC"/>
              </a:rPr>
              <a:t>第二阶段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2032" y="307848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0D2238"/>
                </a:solidFill>
                <a:latin typeface="PingFang SC"/>
              </a:rPr>
              <a:t>抽离成长值、徽章、称号、知识点闯关和学习地图，形成伴随系统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044695"/>
            <a:ext cx="5212080" cy="984504"/>
          </a:xfrm>
          <a:prstGeom prst="roundRect">
            <a:avLst/>
          </a:prstGeom>
          <a:solidFill>
            <a:srgbClr val="E8FAF3"/>
          </a:solidFill>
          <a:ln w="12700">
            <a:solidFill>
              <a:srgbClr val="20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2" y="4209287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0A779"/>
                </a:solidFill>
                <a:latin typeface="PingFang SC"/>
              </a:rPr>
              <a:t>第三阶段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42032" y="4209287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0D2238"/>
                </a:solidFill>
                <a:latin typeface="PingFang SC"/>
              </a:rPr>
              <a:t>完善统一身份认证、数据同步、任务同步和结果回写，适配多课程多平台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1828800"/>
            <a:ext cx="42519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B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600" y="214884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D6FE8"/>
                </a:solidFill>
                <a:latin typeface="PingFang SC"/>
              </a:rPr>
              <a:t>预期应用效果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2743200"/>
            <a:ext cx="3246120" cy="1417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0D2238"/>
                </a:solidFill>
                <a:latin typeface="PingFang SC"/>
              </a:rPr>
              <a:t>学生：学习过程更加可视化、阶段化和有反馈。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0D2238"/>
                </a:solidFill>
                <a:latin typeface="PingFang SC"/>
              </a:rPr>
              <a:t>教师：更容易了解进度、薄弱点和参与情况。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0D2238"/>
                </a:solidFill>
                <a:latin typeface="PingFang SC"/>
              </a:rPr>
              <a:t>平台：补充游戏化学习体验，增强持续使用意愿。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0D2238"/>
                </a:solidFill>
                <a:latin typeface="PingFang SC"/>
              </a:rPr>
              <a:t>推广：从完整平台转向轻量增强应用，更容易落地。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4652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6B86"/>
                </a:solidFill>
                <a:latin typeface="PingFang S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6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9164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78892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98348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080760"/>
            <a:ext cx="12191695" cy="5486"/>
          </a:xfrm>
          <a:prstGeom prst="rect">
            <a:avLst/>
          </a:prstGeom>
          <a:solidFill>
            <a:srgbClr val="E1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" y="201168"/>
            <a:ext cx="1051560" cy="4114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6446520"/>
            <a:ext cx="960120" cy="41148"/>
          </a:xfrm>
          <a:prstGeom prst="rect">
            <a:avLst/>
          </a:prstGeom>
          <a:solidFill>
            <a:srgbClr val="1D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219456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6464808"/>
            <a:ext cx="64008" cy="64008"/>
          </a:xfrm>
          <a:prstGeom prst="ellipse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10896"/>
            <a:ext cx="1234440" cy="310896"/>
          </a:xfrm>
          <a:prstGeom prst="roundRect">
            <a:avLst/>
          </a:prstGeom>
          <a:solidFill>
            <a:srgbClr val="E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8EA8"/>
                </a:solidFill>
                <a:latin typeface="PingFang SC"/>
              </a:rPr>
              <a:t>项目总结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8368"/>
            <a:ext cx="73152" cy="658368"/>
          </a:xfrm>
          <a:prstGeom prst="rect">
            <a:avLst/>
          </a:prstGeom>
          <a:solidFill>
            <a:srgbClr val="13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94944"/>
            <a:ext cx="749807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D2238"/>
                </a:solidFill>
                <a:latin typeface="PingFang SC"/>
              </a:rPr>
              <a:t>项目特色总结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0700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26B86"/>
                </a:solidFill>
                <a:latin typeface="PingFang SC"/>
              </a:rPr>
              <a:t>从学习体验、数据闭环、AI 嵌入和国产化工程四个方面形成项目特色。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1828800"/>
            <a:ext cx="2560320" cy="201168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1D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1993392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D6FE8"/>
                </a:solidFill>
                <a:latin typeface="PingFang SC"/>
              </a:rPr>
              <a:t>学习体验创新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2340864"/>
            <a:ext cx="215798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通过爬塔系统把知识点学习转化为连续挑战。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11880" y="1828800"/>
            <a:ext cx="2560320" cy="2011680"/>
          </a:xfrm>
          <a:prstGeom prst="roundRect">
            <a:avLst/>
          </a:prstGeom>
          <a:solidFill>
            <a:srgbClr val="DDF7F4"/>
          </a:solidFill>
          <a:ln w="12700">
            <a:solidFill>
              <a:srgbClr val="0B8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13048" y="1993392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0B8EA8"/>
                </a:solidFill>
                <a:latin typeface="PingFang SC"/>
              </a:rPr>
              <a:t>数据驱动学习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3048" y="2340864"/>
            <a:ext cx="215798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通过作答、通关、掌握度和行为记录形成学生画像。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828800"/>
            <a:ext cx="2560320" cy="2011680"/>
          </a:xfrm>
          <a:prstGeom prst="roundRect">
            <a:avLst/>
          </a:prstGeom>
          <a:solidFill>
            <a:srgbClr val="E8FAF3"/>
          </a:solidFill>
          <a:ln w="12700">
            <a:solidFill>
              <a:srgbClr val="20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1968" y="1993392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20A779"/>
                </a:solidFill>
                <a:latin typeface="PingFang SC"/>
              </a:rPr>
              <a:t>AI 深度嵌入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2340864"/>
            <a:ext cx="215798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AI 参与知识组织、学习诊断、个性化推荐和教学建议。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9720" y="1828800"/>
            <a:ext cx="2560320" cy="2011680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D89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90888" y="1993392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D89A25"/>
                </a:solidFill>
                <a:latin typeface="PingFang SC"/>
              </a:rPr>
              <a:t>国产化落地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90888" y="2340864"/>
            <a:ext cx="215798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D2238"/>
                </a:solidFill>
                <a:latin typeface="PingFang SC"/>
              </a:rPr>
              <a:t>采用 KingbaseES 和国产化测试工具支撑部署与质量保障。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20240" y="4846320"/>
            <a:ext cx="8366760" cy="777240"/>
          </a:xfrm>
          <a:prstGeom prst="roundRect">
            <a:avLst/>
          </a:prstGeom>
          <a:solidFill>
            <a:srgbClr val="E5FAFF"/>
          </a:solidFill>
          <a:ln w="12700">
            <a:solidFill>
              <a:srgbClr val="13B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40280" y="5120640"/>
            <a:ext cx="7726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D6FE8"/>
                </a:solidFill>
                <a:latin typeface="PingFang SC"/>
              </a:rPr>
              <a:t>让课程知识可组织、学习过程可追踪、能力成长可量化、教学干预可执行。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4652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6B86"/>
                </a:solidFill>
                <a:latin typeface="PingFang SC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