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 snapToObjects="1">
      <p:cViewPr varScale="1">
        <p:scale>
          <a:sx n="99" d="100"/>
          <a:sy n="99" d="100"/>
        </p:scale>
        <p:origin x="192" y="3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512064"/>
            <a:ext cx="507492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21C2B"/>
                </a:solidFill>
                <a:latin typeface="Microsoft YaHei"/>
              </a:rPr>
              <a:t>AI智慧课程平台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47F91"/>
                </a:solidFill>
                <a:latin typeface="Microsoft YaHei"/>
              </a:rPr>
              <a:t>学生端与教师端功能展示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416052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5F6F82"/>
                </a:solidFill>
                <a:latin typeface="Microsoft YaHei"/>
              </a:rPr>
              <a:t>面向教育管理与学习辅助场景，平台将课程资源、学习过程、测评反馈、学情分析和 AI Agent 能力整合为一个持续迭代的教学闭环。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1078992" cy="310896"/>
          </a:xfrm>
          <a:prstGeom prst="roundRect">
            <a:avLst/>
          </a:prstGeom>
          <a:solidFill>
            <a:srgbClr val="4C89DC"/>
          </a:solidFill>
          <a:ln>
            <a:solidFill>
              <a:srgbClr val="4C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课程管理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3657600"/>
            <a:ext cx="1078992" cy="310896"/>
          </a:xfrm>
          <a:prstGeom prst="roundRect">
            <a:avLst/>
          </a:prstGeom>
          <a:solidFill>
            <a:srgbClr val="147F91"/>
          </a:solidFill>
          <a:ln>
            <a:solidFill>
              <a:srgbClr val="14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知识图谱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657600"/>
            <a:ext cx="1078992" cy="310896"/>
          </a:xfrm>
          <a:prstGeom prst="roundRect">
            <a:avLst/>
          </a:prstGeom>
          <a:solidFill>
            <a:srgbClr val="D6A640"/>
          </a:solidFill>
          <a:ln>
            <a:solidFill>
              <a:srgbClr val="D6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智能批改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33087"/>
            <a:ext cx="1298448" cy="310896"/>
          </a:xfrm>
          <a:prstGeom prst="roundRect">
            <a:avLst/>
          </a:prstGeom>
          <a:solidFill>
            <a:srgbClr val="509C71"/>
          </a:solidFill>
          <a:ln>
            <a:solidFill>
              <a:srgbClr val="509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个性化推荐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4133087"/>
            <a:ext cx="1078992" cy="310896"/>
          </a:xfrm>
          <a:prstGeom prst="roundRect">
            <a:avLst/>
          </a:prstGeom>
          <a:solidFill>
            <a:srgbClr val="CA493D"/>
          </a:solidFill>
          <a:ln>
            <a:solidFill>
              <a:srgbClr val="CA4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学情分析</a:t>
            </a:r>
          </a:p>
        </p:txBody>
      </p:sp>
      <p:pic>
        <p:nvPicPr>
          <p:cNvPr id="11" name="Picture 10" descr="logi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658368"/>
            <a:ext cx="5303520" cy="4956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0" y="5797296"/>
            <a:ext cx="5303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F82"/>
                </a:solidFill>
                <a:latin typeface="Microsoft YaHei"/>
              </a:rPr>
              <a:t>截图基于当前本地前端版本生成，便于后续替换为接入真实数据后的演示画面。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01 / AI智慧课程平台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系统架构：三端协同 + 数据闭环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前端负责场景体验，后端沉淀业务数据，AI Agent 负责知识生成、评价与推荐。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108813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5568" y="2029968"/>
            <a:ext cx="384048" cy="384048"/>
          </a:xfrm>
          <a:prstGeom prst="ellipse">
            <a:avLst/>
          </a:prstGeom>
          <a:solidFill>
            <a:srgbClr val="4C89DC"/>
          </a:solidFill>
          <a:ln>
            <a:solidFill>
              <a:srgbClr val="4C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25296" y="2112264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029968"/>
            <a:ext cx="37216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教师端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395728"/>
            <a:ext cx="4151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课程建设 / 班级运营 / 学情分析 / 能力图谱 / 学生画像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601968" y="2029968"/>
            <a:ext cx="384048" cy="384048"/>
          </a:xfrm>
          <a:prstGeom prst="ellipse">
            <a:avLst/>
          </a:prstGeom>
          <a:solidFill>
            <a:srgbClr val="147F91"/>
          </a:solidFill>
          <a:ln>
            <a:solidFill>
              <a:srgbClr val="14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11696" y="2112264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2029968"/>
            <a:ext cx="37216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学生端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395728"/>
            <a:ext cx="4151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课程学习 / 任务测验 / 游戏化爬塔 / 错题复习 / 个性推荐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2743200"/>
            <a:ext cx="81381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167128" y="2944368"/>
            <a:ext cx="384048" cy="384048"/>
          </a:xfrm>
          <a:prstGeom prst="ellipse">
            <a:avLst/>
          </a:prstGeom>
          <a:solidFill>
            <a:srgbClr val="D6A640"/>
          </a:solidFill>
          <a:ln>
            <a:solidFill>
              <a:srgbClr val="D6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76856" y="3026664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1" y="2944368"/>
            <a:ext cx="71963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RESTful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1991" y="3310128"/>
            <a:ext cx="7626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课程、资源、题库、任务、提交、进度、画像等统一接口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4041648"/>
            <a:ext cx="81381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67128" y="4242816"/>
            <a:ext cx="384048" cy="384048"/>
          </a:xfrm>
          <a:prstGeom prst="ellipse">
            <a:avLst/>
          </a:prstGeom>
          <a:solidFill>
            <a:srgbClr val="509C71"/>
          </a:solidFill>
          <a:ln>
            <a:solidFill>
              <a:srgbClr val="509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76856" y="43251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9191" y="4242816"/>
            <a:ext cx="71963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AI Agent 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1991" y="4608576"/>
            <a:ext cx="7626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知识图谱构建、智能评分、问题聚类、教学建议、个性化推荐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4956048"/>
            <a:ext cx="81381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167128" y="5157216"/>
            <a:ext cx="384048" cy="384048"/>
          </a:xfrm>
          <a:prstGeom prst="ellipse">
            <a:avLst/>
          </a:prstGeom>
          <a:solidFill>
            <a:srgbClr val="CA493D"/>
          </a:solidFill>
          <a:ln>
            <a:solidFill>
              <a:srgbClr val="CA4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76856" y="52395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9191" y="5157216"/>
            <a:ext cx="71963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数据与资源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21991" y="5522976"/>
            <a:ext cx="7626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关系型数据库、课程资源、学习行为、测评记录、画像数据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961888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5F6F82"/>
                </a:solidFill>
                <a:latin typeface="Microsoft YaHei"/>
              </a:rPr>
              <a:t>闭环逻辑：课程建设产生结构化内容，学生学习产生行为与测评数据，AI 与学情分析生成反馈，再反哺教师教学调整。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02 / AI智慧课程平台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双端功能地图：同一套数据服务两类用户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学生端强调学习路径与反馈，教师端强调组织管理与教学决策。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53312"/>
            <a:ext cx="1325880" cy="310896"/>
          </a:xfrm>
          <a:prstGeom prst="roundRect">
            <a:avLst/>
          </a:prstGeom>
          <a:solidFill>
            <a:srgbClr val="147F91"/>
          </a:solidFill>
          <a:ln>
            <a:solidFill>
              <a:srgbClr val="14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学生端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7648" y="1353312"/>
            <a:ext cx="1325880" cy="310896"/>
          </a:xfrm>
          <a:prstGeom prst="roundRect">
            <a:avLst/>
          </a:prstGeom>
          <a:solidFill>
            <a:srgbClr val="4C89DC"/>
          </a:solidFill>
          <a:ln>
            <a:solidFill>
              <a:srgbClr val="4C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教师端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029968"/>
            <a:ext cx="384048" cy="384048"/>
          </a:xfrm>
          <a:prstGeom prst="ellipse">
            <a:avLst/>
          </a:prstGeom>
          <a:solidFill>
            <a:srgbClr val="147F91"/>
          </a:solidFill>
          <a:ln>
            <a:solidFill>
              <a:srgbClr val="14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112264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029968"/>
            <a:ext cx="39502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课程学习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395728"/>
            <a:ext cx="4379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课程列表、课时详情、资源预览、知识图谱导航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16352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3017520"/>
            <a:ext cx="384048" cy="384048"/>
          </a:xfrm>
          <a:prstGeom prst="ellipse">
            <a:avLst/>
          </a:prstGeom>
          <a:solidFill>
            <a:srgbClr val="D6A640"/>
          </a:solidFill>
          <a:ln>
            <a:solidFill>
              <a:srgbClr val="D6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099816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17520"/>
            <a:ext cx="39502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任务测评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383280"/>
            <a:ext cx="4379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在线测验、作业提交、系统评分、通关挑战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803904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4005072"/>
            <a:ext cx="384048" cy="384048"/>
          </a:xfrm>
          <a:prstGeom prst="ellipse">
            <a:avLst/>
          </a:prstGeom>
          <a:solidFill>
            <a:srgbClr val="509C71"/>
          </a:solidFill>
          <a:ln>
            <a:solidFill>
              <a:srgbClr val="509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087368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4005072"/>
            <a:ext cx="39502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学习反馈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2"/>
            <a:ext cx="4379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诊断结果、错题本、学习进度、个人画像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791456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4400" y="4992624"/>
            <a:ext cx="384048" cy="384048"/>
          </a:xfrm>
          <a:prstGeom prst="ellipse">
            <a:avLst/>
          </a:prstGeom>
          <a:solidFill>
            <a:srgbClr val="4C89DC"/>
          </a:solidFill>
          <a:ln>
            <a:solidFill>
              <a:srgbClr val="4C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5074920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4992624"/>
            <a:ext cx="39502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个性路径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5358384"/>
            <a:ext cx="4379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基于掌握度、弱点和推荐策略进入下一步学习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7648" y="1828800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28816" y="2029968"/>
            <a:ext cx="384048" cy="384048"/>
          </a:xfrm>
          <a:prstGeom prst="ellipse">
            <a:avLst/>
          </a:prstGeom>
          <a:solidFill>
            <a:srgbClr val="4C89DC"/>
          </a:solidFill>
          <a:ln>
            <a:solidFill>
              <a:srgbClr val="4C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38544" y="2112264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029968"/>
            <a:ext cx="39502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课程建设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395728"/>
            <a:ext cx="4379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课程、课时、资源、知识点、题库统一维护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2816352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528816" y="3017520"/>
            <a:ext cx="384048" cy="384048"/>
          </a:xfrm>
          <a:prstGeom prst="ellipse">
            <a:avLst/>
          </a:prstGeom>
          <a:solidFill>
            <a:srgbClr val="CA493D"/>
          </a:solidFill>
          <a:ln>
            <a:solidFill>
              <a:srgbClr val="CA4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38544" y="3099816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017520"/>
            <a:ext cx="39502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过程管理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383280"/>
            <a:ext cx="4379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任务发布、提交复核、班级运营、风险处理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27648" y="3803904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528816" y="4005072"/>
            <a:ext cx="384048" cy="384048"/>
          </a:xfrm>
          <a:prstGeom prst="ellipse">
            <a:avLst/>
          </a:prstGeom>
          <a:solidFill>
            <a:srgbClr val="D6A640"/>
          </a:solidFill>
          <a:ln>
            <a:solidFill>
              <a:srgbClr val="D6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38544" y="4087368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005072"/>
            <a:ext cx="39502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学情洞察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370832"/>
            <a:ext cx="4379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错题统计、知识点掌握、题型表现、班级风险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27648" y="4791456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528816" y="4992624"/>
            <a:ext cx="384048" cy="384048"/>
          </a:xfrm>
          <a:prstGeom prst="ellipse">
            <a:avLst/>
          </a:prstGeom>
          <a:solidFill>
            <a:srgbClr val="509C71"/>
          </a:solidFill>
          <a:ln>
            <a:solidFill>
              <a:srgbClr val="509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38544" y="5074920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992624"/>
            <a:ext cx="39502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智能辅助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358384"/>
            <a:ext cx="4379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AI 能力图谱、智能评价、问题聚类、教学建议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870448"/>
            <a:ext cx="10506456" cy="411480"/>
          </a:xfrm>
          <a:prstGeom prst="roundRect">
            <a:avLst/>
          </a:prstGeom>
          <a:solidFill>
            <a:srgbClr val="E7F7F8"/>
          </a:solidFill>
          <a:ln>
            <a:solidFill>
              <a:srgbClr val="E7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598932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147F91"/>
                </a:solidFill>
                <a:latin typeface="Microsoft YaHei"/>
              </a:rPr>
              <a:t>核心关系：教师配置课程与任务，学生产生学习数据，系统分析数据并生成反馈，教师据此优化后续教学。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03 / AI智慧课程平台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学生端：游戏化学习入口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把课程学习路径转化为“爬塔路线”，让知识点学习、诊断、挑战和奖励形成连续体验。</a:t>
            </a:r>
          </a:p>
        </p:txBody>
      </p:sp>
      <p:pic>
        <p:nvPicPr>
          <p:cNvPr id="4" name="Picture 3" descr="student_tow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25880"/>
            <a:ext cx="6812280" cy="4434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8" y="1353312"/>
            <a:ext cx="1344169" cy="969264"/>
          </a:xfrm>
          <a:prstGeom prst="roundRect">
            <a:avLst/>
          </a:prstGeom>
          <a:solidFill>
            <a:srgbClr val="E7F7F8"/>
          </a:solidFill>
          <a:ln>
            <a:solidFill>
              <a:srgbClr val="E7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64423" y="151790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7F91"/>
                </a:solidFill>
                <a:latin typeface="Microsoft YaHei"/>
              </a:rPr>
              <a:t>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2711" y="1956816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F82"/>
                </a:solidFill>
                <a:latin typeface="Microsoft YaHei"/>
              </a:rPr>
              <a:t>知识点节点化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02950" y="1353312"/>
            <a:ext cx="1344169" cy="969264"/>
          </a:xfrm>
          <a:prstGeom prst="roundRect">
            <a:avLst/>
          </a:prstGeom>
          <a:solidFill>
            <a:srgbClr val="FCF6E6"/>
          </a:solidFill>
          <a:ln>
            <a:solidFill>
              <a:srgbClr val="FCF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50424" y="151790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D6A640"/>
                </a:solidFill>
                <a:latin typeface="Microsoft YaHei"/>
              </a:rPr>
              <a:t>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8711" y="1956816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F82"/>
                </a:solidFill>
                <a:latin typeface="Microsoft YaHei"/>
              </a:rPr>
              <a:t>能量/金币/经验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615184"/>
            <a:ext cx="352044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82711" y="281635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路线驱动学习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2711" y="3182112"/>
            <a:ext cx="30083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章节、知识点和房间节点串成学习路径，学生可以直接进入下一步。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675887"/>
            <a:ext cx="352044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82711" y="3877055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诊断前置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1" y="4242816"/>
            <a:ext cx="30083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进入节点前先确认知识状态，再匹配题包、挑战强度和奖励。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736592"/>
            <a:ext cx="352044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82711" y="4937759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即时激励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1" y="5303520"/>
            <a:ext cx="30083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用角色、血量、奖励和通关结果强化持续学习反馈。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04 / AI智慧课程平台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学生端：学习、测评与成长闭环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围绕“学资源、做任务、即时反馈、回看薄弱点”组织学生端能力。</a:t>
            </a:r>
          </a:p>
        </p:txBody>
      </p:sp>
      <p:pic>
        <p:nvPicPr>
          <p:cNvPr id="4" name="Picture 3" descr="student_battl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25880"/>
            <a:ext cx="6126480" cy="4526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325880"/>
            <a:ext cx="4297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87768" y="1527048"/>
            <a:ext cx="384048" cy="384048"/>
          </a:xfrm>
          <a:prstGeom prst="ellipse">
            <a:avLst/>
          </a:prstGeom>
          <a:solidFill>
            <a:srgbClr val="4C89DC"/>
          </a:solidFill>
          <a:ln>
            <a:solidFill>
              <a:srgbClr val="4C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97496" y="1609344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1527048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课程与资源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2631" y="1892807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查看课程、课时、视频/文档资源，进入知识图谱关联内容。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468880"/>
            <a:ext cx="4297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287768" y="2670048"/>
            <a:ext cx="384048" cy="384048"/>
          </a:xfrm>
          <a:prstGeom prst="ellipse">
            <a:avLst/>
          </a:prstGeom>
          <a:solidFill>
            <a:srgbClr val="147F91"/>
          </a:solidFill>
          <a:ln>
            <a:solidFill>
              <a:srgbClr val="14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97496" y="2752344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2670048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任务与测验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1" y="3035808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完成在线测验、作业提交，系统记录提交状态与得分。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3611880"/>
            <a:ext cx="4297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287768" y="3813048"/>
            <a:ext cx="384048" cy="384048"/>
          </a:xfrm>
          <a:prstGeom prst="ellipse">
            <a:avLst/>
          </a:prstGeom>
          <a:solidFill>
            <a:srgbClr val="D6A640"/>
          </a:solidFill>
          <a:ln>
            <a:solidFill>
              <a:srgbClr val="D6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97496" y="3895344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3813048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智能诊断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4178808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根据答题结果更新掌握度，提示薄弱知识点和下一步行动。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4754880"/>
            <a:ext cx="4297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87768" y="4956048"/>
            <a:ext cx="384048" cy="384048"/>
          </a:xfrm>
          <a:prstGeom prst="ellipse">
            <a:avLst/>
          </a:prstGeom>
          <a:solidFill>
            <a:srgbClr val="509C71"/>
          </a:solidFill>
          <a:ln>
            <a:solidFill>
              <a:srgbClr val="509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97496" y="5038344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4956048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画像与错题本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5321808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汇总学习进度、能力成长、错题记录，支持个性化复习。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05 / AI智慧课程平台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学生端：个性化学习能力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学生端不只是做题入口，而是围绕学习状态持续给出复习、激励和下一步建议。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17320"/>
            <a:ext cx="34747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1618488"/>
            <a:ext cx="384048" cy="384048"/>
          </a:xfrm>
          <a:prstGeom prst="ellipse">
            <a:avLst/>
          </a:prstGeom>
          <a:solidFill>
            <a:srgbClr val="509C71"/>
          </a:solidFill>
          <a:ln>
            <a:solidFill>
              <a:srgbClr val="509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700784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1618488"/>
            <a:ext cx="25328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学习画像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984248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汇总学习进度、能力成长、掌握度和学习状态，形成个人学习档案。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4747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08576" y="1618488"/>
            <a:ext cx="384048" cy="384048"/>
          </a:xfrm>
          <a:prstGeom prst="ellipse">
            <a:avLst/>
          </a:prstGeom>
          <a:solidFill>
            <a:srgbClr val="CA493D"/>
          </a:solidFill>
          <a:ln>
            <a:solidFill>
              <a:srgbClr val="CA4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18304" y="1700784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618488"/>
            <a:ext cx="25328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错题本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84248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沉淀错题、薄弱知识点和复习建议，支持针对性补弱。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1089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02752" y="1618488"/>
            <a:ext cx="384048" cy="384048"/>
          </a:xfrm>
          <a:prstGeom prst="ellipse">
            <a:avLst/>
          </a:prstGeom>
          <a:solidFill>
            <a:srgbClr val="147F91"/>
          </a:solidFill>
          <a:ln>
            <a:solidFill>
              <a:srgbClr val="14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700784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5" y="1618488"/>
            <a:ext cx="21671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推荐路径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1984248"/>
            <a:ext cx="25968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根据诊断结果与画像数据，推送下一步学习资源或训练节点。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3063240"/>
            <a:ext cx="2240280" cy="1463040"/>
          </a:xfrm>
          <a:prstGeom prst="roundRect">
            <a:avLst/>
          </a:prstGeom>
          <a:solidFill>
            <a:srgbClr val="EBF3FF"/>
          </a:solidFill>
          <a:ln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2461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4C89DC"/>
                </a:solidFill>
                <a:latin typeface="Microsoft Ya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8444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1C2B"/>
                </a:solidFill>
                <a:latin typeface="Microsoft YaHei"/>
              </a:rPr>
              <a:t>学习行为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6849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5F6F82"/>
                </a:solidFill>
                <a:latin typeface="Microsoft YaHei"/>
              </a:rPr>
              <a:t>看资源、做任务、答题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108960" y="3611880"/>
            <a:ext cx="411480" cy="292608"/>
          </a:xfrm>
          <a:prstGeom prst="rightArrow">
            <a:avLst/>
          </a:prstGeom>
          <a:solidFill>
            <a:srgbClr val="DDE4E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630168" y="3063240"/>
            <a:ext cx="2240280" cy="1463040"/>
          </a:xfrm>
          <a:prstGeom prst="roundRect">
            <a:avLst/>
          </a:prstGeom>
          <a:solidFill>
            <a:srgbClr val="FCF6E6"/>
          </a:solidFill>
          <a:ln>
            <a:solidFill>
              <a:srgbClr val="FCF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94759" y="32461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D6A640"/>
                </a:solidFill>
                <a:latin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59" y="358444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1C2B"/>
                </a:solidFill>
                <a:latin typeface="Microsoft YaHei"/>
              </a:rPr>
              <a:t>数据记录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59" y="396849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5F6F82"/>
                </a:solidFill>
                <a:latin typeface="Microsoft YaHei"/>
              </a:rPr>
              <a:t>进度、得分、错题、掌握度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897879" y="3611880"/>
            <a:ext cx="411480" cy="292608"/>
          </a:xfrm>
          <a:prstGeom prst="rightArrow">
            <a:avLst/>
          </a:prstGeom>
          <a:solidFill>
            <a:srgbClr val="DDE4E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19088" y="3063240"/>
            <a:ext cx="2240280" cy="1463040"/>
          </a:xfrm>
          <a:prstGeom prst="roundRect">
            <a:avLst/>
          </a:prstGeom>
          <a:solidFill>
            <a:srgbClr val="E7F7F8"/>
          </a:solidFill>
          <a:ln>
            <a:solidFill>
              <a:srgbClr val="E7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79" y="32461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7F91"/>
                </a:solidFill>
                <a:latin typeface="Microsoft Ya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358444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1C2B"/>
                </a:solidFill>
                <a:latin typeface="Microsoft YaHei"/>
              </a:rPr>
              <a:t>智能分析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396849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5F6F82"/>
                </a:solidFill>
                <a:latin typeface="Microsoft YaHei"/>
              </a:rPr>
              <a:t>薄弱点、风险、推荐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686800" y="3611880"/>
            <a:ext cx="411480" cy="292608"/>
          </a:xfrm>
          <a:prstGeom prst="rightArrow">
            <a:avLst/>
          </a:prstGeom>
          <a:solidFill>
            <a:srgbClr val="DDE4E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208007" y="3063240"/>
            <a:ext cx="2240280" cy="1463040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72599" y="32461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509C71"/>
                </a:solidFill>
                <a:latin typeface="Microsoft YaHe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599" y="358444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1C2B"/>
                </a:solidFill>
                <a:latin typeface="Microsoft YaHei"/>
              </a:rPr>
              <a:t>个性反馈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599" y="396849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5F6F82"/>
                </a:solidFill>
                <a:latin typeface="Microsoft YaHei"/>
              </a:rPr>
              <a:t>复习路径、挑战节点、成长激励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" y="5321808"/>
            <a:ext cx="9966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07008" y="5532120"/>
            <a:ext cx="9326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147F91"/>
                </a:solidFill>
                <a:latin typeface="Microsoft YaHei"/>
              </a:rPr>
              <a:t>学生端价值：把“课程内容”转化为可执行路径，把“测评结果”转化为可理解反馈，把“薄弱点”转化为下一步行动。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06 / AI智慧课程平台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教师端：首页聚合待办与风险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教师进入系统后先看到需要处理的事项，而不是散落在不同菜单里的数据。</a:t>
            </a:r>
          </a:p>
        </p:txBody>
      </p:sp>
      <p:pic>
        <p:nvPicPr>
          <p:cNvPr id="4" name="Picture 3" descr="teacher_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43584"/>
            <a:ext cx="6675120" cy="43159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35240" y="1243584"/>
            <a:ext cx="36118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91271" y="1444752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今日焦点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1271" y="1810512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汇总待批改、逾期、临近截止等需要优先处理的事项。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395728"/>
            <a:ext cx="36118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91271" y="2596896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待处理队列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2962656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把提交复核、任务异常和课堂运营事项排成教师工作清单。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547872"/>
            <a:ext cx="36118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91271" y="3749039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异常提醒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4114800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从任务、提交、学情中提取风险信号，辅助教师快速定位问题。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700016"/>
            <a:ext cx="36118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271" y="4901183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最近变化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5266944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记录最新提交、临近截止与班级动态，保证教学过程可追踪。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07 / AI智慧课程平台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教师端：学情分析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从测评数据中提取班级共性错题、知识点掌握和教学干预建议。</a:t>
            </a:r>
          </a:p>
        </p:txBody>
      </p:sp>
      <p:pic>
        <p:nvPicPr>
          <p:cNvPr id="4" name="Picture 3" descr="learning_analysi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43584"/>
            <a:ext cx="6492240" cy="43159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79792" y="1353312"/>
            <a:ext cx="2331720" cy="969264"/>
          </a:xfrm>
          <a:prstGeom prst="roundRect">
            <a:avLst/>
          </a:prstGeom>
          <a:solidFill>
            <a:srgbClr val="FFF0EE"/>
          </a:solidFill>
          <a:ln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17536" y="151790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CA493D"/>
                </a:solidFill>
                <a:latin typeface="Microsoft YaHei"/>
              </a:rPr>
              <a:t>错题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35823" y="1956816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F82"/>
                </a:solidFill>
                <a:latin typeface="Microsoft YaHei"/>
              </a:rPr>
              <a:t>共性问题定位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353312"/>
            <a:ext cx="2331720" cy="969264"/>
          </a:xfrm>
          <a:prstGeom prst="roundRect">
            <a:avLst/>
          </a:prstGeom>
          <a:solidFill>
            <a:srgbClr val="E7F7F8"/>
          </a:solidFill>
          <a:ln>
            <a:solidFill>
              <a:srgbClr val="E7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21824" y="151790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7F91"/>
                </a:solidFill>
                <a:latin typeface="Microsoft YaHei"/>
              </a:rPr>
              <a:t>掌握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40111" y="1956816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F82"/>
                </a:solidFill>
                <a:latin typeface="Microsoft YaHei"/>
              </a:rPr>
              <a:t>知识点状态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2633472"/>
            <a:ext cx="411480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5823" y="2834640"/>
            <a:ext cx="3630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班级层面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3" y="3200400"/>
            <a:ext cx="36027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查看客观题作答数、错误数、班级错误率，快速判断课程阶段性学习质量。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3703320"/>
            <a:ext cx="411480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35823" y="3904487"/>
            <a:ext cx="3630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知识点层面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3" y="4270248"/>
            <a:ext cx="36027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按知识点统计错误、作答、掌握度和状态，定位需要复讲或补充训练的内容。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79792" y="4773168"/>
            <a:ext cx="411480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35823" y="4974336"/>
            <a:ext cx="3630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智能建议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3" y="5340096"/>
            <a:ext cx="36027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结合问题聚类和 AI 教学建议，为教师提供可执行的干预方向。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08 / AI智慧课程平台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教师端：课程能力图谱与资源组织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将课程能力点、知识点和学习资源建立映射，支撑后续诊断与推荐。</a:t>
            </a:r>
          </a:p>
        </p:txBody>
      </p:sp>
      <p:pic>
        <p:nvPicPr>
          <p:cNvPr id="4" name="Picture 3" descr="ability_ma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43584"/>
            <a:ext cx="6492240" cy="43159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79792" y="1325880"/>
            <a:ext cx="4114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35823" y="1527048"/>
            <a:ext cx="3630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能力点维护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35823" y="1892807"/>
            <a:ext cx="36027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教师可以新增、编辑、删除课程能力点，形成课程能力框架。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79792" y="2487168"/>
            <a:ext cx="4114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35823" y="2688336"/>
            <a:ext cx="3630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知识点映射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5823" y="3054096"/>
            <a:ext cx="36027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把能力点绑定到知识点与章节，让课程结构可追踪、可解释。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3648456"/>
            <a:ext cx="4114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5823" y="3849624"/>
            <a:ext cx="3630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AI 生成草稿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3" y="4215384"/>
            <a:ext cx="36027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通过 AI 生成能力图谱草稿，教师审核后采纳，提升课程建设效率。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4809744"/>
            <a:ext cx="4114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35823" y="5010912"/>
            <a:ext cx="3630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服务推荐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3" y="5376672"/>
            <a:ext cx="36027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能力图谱为学生画像、错题分析和个性化学习推荐提供依据。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09 / AI智慧课程平台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AI Agent 与教学闭环：从数据到行动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智能能力贯穿课程建设、测评反馈、学情分析和个性化推荐。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1591056"/>
            <a:ext cx="384048" cy="384048"/>
          </a:xfrm>
          <a:prstGeom prst="ellipse">
            <a:avLst/>
          </a:prstGeom>
          <a:solidFill>
            <a:srgbClr val="147F91"/>
          </a:solidFill>
          <a:ln>
            <a:solidFill>
              <a:srgbClr val="14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9264" y="167335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91056"/>
            <a:ext cx="4133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知识图谱构建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456285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从课程资源中抽取知识点与关系，支撑课程结构化组织。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389888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37375" y="1591056"/>
            <a:ext cx="384048" cy="384048"/>
          </a:xfrm>
          <a:prstGeom prst="ellipse">
            <a:avLst/>
          </a:prstGeom>
          <a:solidFill>
            <a:srgbClr val="D6A640"/>
          </a:solidFill>
          <a:ln>
            <a:solidFill>
              <a:srgbClr val="D6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47103" y="167335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591056"/>
            <a:ext cx="4133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智能批改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56816"/>
            <a:ext cx="456285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对作业/测验提交生成评分建议、评价摘要与风险等级。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71216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9536" y="3072384"/>
            <a:ext cx="384048" cy="384048"/>
          </a:xfrm>
          <a:prstGeom prst="ellipse">
            <a:avLst/>
          </a:prstGeom>
          <a:solidFill>
            <a:srgbClr val="509C71"/>
          </a:solidFill>
          <a:ln>
            <a:solidFill>
              <a:srgbClr val="509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154680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72384"/>
            <a:ext cx="4133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个性化推荐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38144"/>
            <a:ext cx="456285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结合画像、错题、掌握度，推荐学习路径与复习重点。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2871216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37375" y="3072384"/>
            <a:ext cx="384048" cy="384048"/>
          </a:xfrm>
          <a:prstGeom prst="ellipse">
            <a:avLst/>
          </a:prstGeom>
          <a:solidFill>
            <a:srgbClr val="4C89DC"/>
          </a:solidFill>
          <a:ln>
            <a:solidFill>
              <a:srgbClr val="4C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47103" y="3154680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72384"/>
            <a:ext cx="4133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教学决策建议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38144"/>
            <a:ext cx="456285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基于班级错题和薄弱点，生成问题聚类与干预建议。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800600"/>
            <a:ext cx="10607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5029200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21C2B"/>
                </a:solidFill>
                <a:latin typeface="Microsoft YaHei"/>
              </a:rPr>
              <a:t>平台价值总结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5029200"/>
            <a:ext cx="7863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0">
                <a:solidFill>
                  <a:srgbClr val="5F6F82"/>
                </a:solidFill>
                <a:latin typeface="Microsoft YaHei"/>
              </a:rPr>
              <a:t>教师端获得可执行的班级干预依据，学生端获得更清晰的学习路径与即时反馈，平台侧沉淀可持续迭代的课程知识资产。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10 / AI智慧课程平台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580</Words>
  <Application>Microsoft Macintosh PowerPoint</Application>
  <PresentationFormat>宽屏</PresentationFormat>
  <Paragraphs>164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榆航 黄</cp:lastModifiedBy>
  <cp:revision>2</cp:revision>
  <dcterms:created xsi:type="dcterms:W3CDTF">2013-01-27T09:14:16Z</dcterms:created>
  <dcterms:modified xsi:type="dcterms:W3CDTF">2026-07-03T12:18:01Z</dcterms:modified>
  <cp:category/>
</cp:coreProperties>
</file>