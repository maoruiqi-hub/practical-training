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AI智慧课程平台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4937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2DCE8"/>
                </a:solidFill>
                <a:latin typeface="Microsoft YaHei"/>
              </a:rPr>
              <a:t>学生端 + 教师端功能展示底稿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ECCDA"/>
                </a:solidFill>
                <a:latin typeface="Microsoft YaHei"/>
              </a:rPr>
              <a:t>围绕课程管理、知识图谱、智能批改、个性化学习推荐，展示平台如何支撑“教、学、评、诊、改”的闭环。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127248"/>
            <a:ext cx="1005840" cy="310896"/>
          </a:xfrm>
          <a:prstGeom prst="roundRect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学生端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3127248"/>
            <a:ext cx="1005840" cy="310896"/>
          </a:xfrm>
          <a:prstGeom prst="roundRect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教师端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3127248"/>
            <a:ext cx="1143000" cy="310896"/>
          </a:xfrm>
          <a:prstGeom prst="roundRect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icrosoft YaHei"/>
              </a:rPr>
              <a:t>AI Agent</a:t>
            </a:r>
          </a:p>
        </p:txBody>
      </p:sp>
      <p:pic>
        <p:nvPicPr>
          <p:cNvPr id="8" name="Picture 7" descr="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530352"/>
            <a:ext cx="5440680" cy="5074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6089904"/>
            <a:ext cx="6583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2BDCA"/>
                </a:solidFill>
                <a:latin typeface="Microsoft YaHei"/>
              </a:rPr>
              <a:t>截图来自当前本地前端版本，可在后续答辩前替换为接入真实数据后的画面。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01 / AI智慧课程平台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项目定位与系统架构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以 RESTful 后端为枢纽，连接教师端、学生端与 AI Agent 服务。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161848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0078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1848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前端体验层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288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教师工作台 / 学生学习端 / 管理后台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7744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257860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66090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7860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业务服务层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44368"/>
            <a:ext cx="4288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课程、任务、题库、提交、学情、画像等 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3756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" y="3538728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2102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3872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智能服务层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4288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知识图谱构建、智能评分、个性化推荐、教学建议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4800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4498848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458114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98848"/>
            <a:ext cx="3858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数据资源层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64608"/>
            <a:ext cx="42885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关系型数据库、教学资源、学习行为与提交记录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21C2B"/>
                </a:solidFill>
                <a:latin typeface="Microsoft YaHei"/>
              </a:rPr>
              <a:t>平台目标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74519"/>
            <a:ext cx="44348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075688"/>
            <a:ext cx="3950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智能化生产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2441448"/>
            <a:ext cx="3922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AI 辅助抽取知识点、生成能力图谱与教学建议。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17520"/>
            <a:ext cx="44348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218688"/>
            <a:ext cx="3950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结构化管理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3584448"/>
            <a:ext cx="3922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课程、课时、资源、任务、题库统一沉淀。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60520"/>
            <a:ext cx="443484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4361688"/>
            <a:ext cx="395020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个性化学习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4727448"/>
            <a:ext cx="3922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按学生画像、错题、掌握度推荐学习路径。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02 / AI智慧课程平台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学生端：游戏化学习入口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CD6E2"/>
                </a:solidFill>
                <a:latin typeface="Microsoft YaHei"/>
              </a:rPr>
              <a:t>把课程学习路径转化为“爬塔路线”，让知识点学习、诊断、挑战和奖励形成连续体验。</a:t>
            </a:r>
          </a:p>
        </p:txBody>
      </p:sp>
      <p:pic>
        <p:nvPicPr>
          <p:cNvPr id="4" name="Picture 3" descr="student_tow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417320"/>
            <a:ext cx="6812280" cy="4434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417320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82711" y="1618488"/>
            <a:ext cx="3035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路线驱动学习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2711" y="1984248"/>
            <a:ext cx="30083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章节、知识点和房间节点串成学习路径，降低学生寻找任务的成本。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633472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1" y="2834640"/>
            <a:ext cx="3035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状态即时反馈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1" y="3200400"/>
            <a:ext cx="30083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能量、金币、攻击、防御、经验等指标把学习进展可视化。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849624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1" y="4050791"/>
            <a:ext cx="30358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先诊断后训练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1" y="4416552"/>
            <a:ext cx="300837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进入节点前先确认知识状态，再匹配题包和挑战强度。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03 / AI智慧课程平台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学生端：学习、测评与成长闭环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围绕“学资源、做任务、即时反馈、回看薄弱点”组织学生端能力。</a:t>
            </a:r>
          </a:p>
        </p:txBody>
      </p:sp>
      <p:pic>
        <p:nvPicPr>
          <p:cNvPr id="4" name="Picture 3" descr="student_battl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25880"/>
            <a:ext cx="612648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086600" y="1325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87768" y="152704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97496" y="160934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9831" y="152704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课程与资源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1892807"/>
            <a:ext cx="3785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查看课程、课时、视频/文档资源，进入知识图谱关联内容。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468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87768" y="267004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75234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67004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任务与测验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3035808"/>
            <a:ext cx="3785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完成在线测验、作业提交，系统记录提交状态与得分。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611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87768" y="3813048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389534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81304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2631" y="4178808"/>
            <a:ext cx="3785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根据答题结果更新掌握度，提示薄弱知识点和下一步行动。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4754880"/>
            <a:ext cx="42976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287768" y="4956048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503834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9831" y="4956048"/>
            <a:ext cx="3355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画像与错题本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5321808"/>
            <a:ext cx="37856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汇总学习进度、能力成长、错题记录，支持个性化复习。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04 / AI智慧课程平台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教师端：首页聚合待办与风险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教师进入系统后先看到需要处理的事项，而不是散落在不同菜单里的数据。</a:t>
            </a:r>
          </a:p>
        </p:txBody>
      </p:sp>
      <p:pic>
        <p:nvPicPr>
          <p:cNvPr id="4" name="Picture 3" descr="teacher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43584"/>
            <a:ext cx="6675120" cy="4315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35240" y="1243584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91271" y="1444752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今日焦点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91271" y="1810512"/>
            <a:ext cx="30998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汇总待批改、逾期、临近截止等需要优先处理的事项。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395728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2596896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待处理队列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962656"/>
            <a:ext cx="30998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把提交复核、任务异常和课堂运营事项排成教师工作清单。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547872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3749039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异常提醒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4114800"/>
            <a:ext cx="30998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从任务、提交、学情中提取风险信号，辅助教师快速定位问题。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4700016"/>
            <a:ext cx="3611880" cy="95097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1" y="4901183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最近变化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5266944"/>
            <a:ext cx="30998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记录最新提交、临近截止与班级动态，保证教学过程可追踪。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05 / AI智慧课程平台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教师端：学情分析与能力图谱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CD6E2"/>
                </a:solidFill>
                <a:latin typeface="Microsoft YaHei"/>
              </a:rPr>
              <a:t>从班级共性问题到课程能力结构，帮助教师完成“诊断班级、调整教学”的决策。</a:t>
            </a:r>
          </a:p>
        </p:txBody>
      </p:sp>
      <p:pic>
        <p:nvPicPr>
          <p:cNvPr id="4" name="Picture 3" descr="learning_analysi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98448"/>
            <a:ext cx="534924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学情分析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749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统计客观题作答数、错误数、班级错误率，沉淀知识点掌握、共性错题、题型表现和 AI 教学建议。</a:t>
            </a:r>
          </a:p>
        </p:txBody>
      </p:sp>
      <p:pic>
        <p:nvPicPr>
          <p:cNvPr id="7" name="Picture 6" descr="ability_map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298448"/>
            <a:ext cx="534924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72784" y="46817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能力图谱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784" y="5074920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维护课程能力点，绑定知识点，并支持 AI 生成能力图谱草稿，形成可解释的课程能力结构。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06 / AI智慧课程平台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21C2B"/>
                </a:solidFill>
                <a:latin typeface="Microsoft YaHei"/>
              </a:rPr>
              <a:t>AI Agent 能力：让数据进入教学闭环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F6F82"/>
                </a:solidFill>
                <a:latin typeface="Microsoft YaHei"/>
              </a:rPr>
              <a:t>智能服务不是独立展示点，而是嵌入课程建设、测评反馈和个性化推荐。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" y="1618488"/>
            <a:ext cx="384048" cy="38404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0078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18488"/>
            <a:ext cx="41330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知识图谱构建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4562856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从课程资源中抽取知识点与关系，支撑课程结构化组织。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41732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37375" y="1618488"/>
            <a:ext cx="384048" cy="38404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3" y="170078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18488"/>
            <a:ext cx="41330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智能批改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84248"/>
            <a:ext cx="4562856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对作业/测验提交生成评分建议、评价摘要与风险等级。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718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9536" y="3172968"/>
            <a:ext cx="384048" cy="38404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25526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172968"/>
            <a:ext cx="41330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个性化推荐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38728"/>
            <a:ext cx="4562856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结合画像、错题、掌握度，推荐学习路径与复习重点。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2971800"/>
            <a:ext cx="5074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37375" y="3172968"/>
            <a:ext cx="384048" cy="38404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3" y="3255264"/>
            <a:ext cx="164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172968"/>
            <a:ext cx="41330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121C2B"/>
                </a:solidFill>
                <a:latin typeface="Microsoft YaHei"/>
              </a:rPr>
              <a:t>教学决策建议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538728"/>
            <a:ext cx="4562856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F6F82"/>
                </a:solidFill>
                <a:latin typeface="Microsoft YaHei"/>
              </a:rPr>
              <a:t>基于班级错题和薄弱点，生成问题聚类与干预建议。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754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21C2B"/>
                </a:solidFill>
                <a:latin typeface="Microsoft YaHei"/>
              </a:rPr>
              <a:t>核心价值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230368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F6F82"/>
                </a:solidFill>
                <a:latin typeface="Microsoft YaHei"/>
              </a:rPr>
              <a:t>教师端获得可执行的班级干预依据；学生端获得更清晰的学习路径与即时反馈；平台侧沉淀可持续迭代的课程知识资产。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07 / AI智慧课程平台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132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答辩展示建议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7863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CD6E2"/>
                </a:solidFill>
                <a:latin typeface="Microsoft YaHei"/>
              </a:rPr>
              <a:t>建议按一个完整学习场景讲，而不是按菜单逐项介绍。</a:t>
            </a:r>
          </a:p>
        </p:txBody>
      </p:sp>
      <p:sp>
        <p:nvSpPr>
          <p:cNvPr id="4" name="Oval 3"/>
          <p:cNvSpPr/>
          <p:nvPr/>
        </p:nvSpPr>
        <p:spPr>
          <a:xfrm>
            <a:off x="786384" y="1645920"/>
            <a:ext cx="658368" cy="658368"/>
          </a:xfrm>
          <a:prstGeom prst="ellipse">
            <a:avLst/>
          </a:prstGeom>
          <a:solidFill>
            <a:srgbClr val="147F91"/>
          </a:solidFill>
          <a:ln>
            <a:solidFill>
              <a:srgbClr val="147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3" y="179222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4203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教师建设课程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944368"/>
            <a:ext cx="2267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创建课程、课时、资源与题库，AI 辅助生成能力图谱。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19072" y="1810512"/>
            <a:ext cx="1325880" cy="310896"/>
          </a:xfrm>
          <a:prstGeom prst="rightArrow">
            <a:avLst/>
          </a:prstGeom>
          <a:solidFill>
            <a:srgbClr val="49586B"/>
          </a:solidFill>
          <a:ln>
            <a:solidFill>
              <a:srgbClr val="495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75303" y="1645920"/>
            <a:ext cx="658368" cy="658368"/>
          </a:xfrm>
          <a:prstGeom prst="ellipse">
            <a:avLst/>
          </a:prstGeom>
          <a:solidFill>
            <a:srgbClr val="D6A640"/>
          </a:solidFill>
          <a:ln>
            <a:solidFill>
              <a:srgbClr val="D6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3904" y="179222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3" y="254203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学生进入路线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3" y="2944368"/>
            <a:ext cx="2267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学生从爬塔地图选择知识点，完成诊断和挑战。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07992" y="1810512"/>
            <a:ext cx="1325880" cy="310896"/>
          </a:xfrm>
          <a:prstGeom prst="rightArrow">
            <a:avLst/>
          </a:prstGeom>
          <a:solidFill>
            <a:srgbClr val="49586B"/>
          </a:solidFill>
          <a:ln>
            <a:solidFill>
              <a:srgbClr val="495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4224" y="1645920"/>
            <a:ext cx="658368" cy="658368"/>
          </a:xfrm>
          <a:prstGeom prst="ellipse">
            <a:avLst/>
          </a:prstGeom>
          <a:solidFill>
            <a:srgbClr val="509C71"/>
          </a:solidFill>
          <a:ln>
            <a:solidFill>
              <a:srgbClr val="509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179222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4203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系统生成反馈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944368"/>
            <a:ext cx="2267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答题结果更新掌握度、错题本、画像和推荐路径。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96912" y="1810512"/>
            <a:ext cx="1325880" cy="310896"/>
          </a:xfrm>
          <a:prstGeom prst="rightArrow">
            <a:avLst/>
          </a:prstGeom>
          <a:solidFill>
            <a:srgbClr val="49586B"/>
          </a:solidFill>
          <a:ln>
            <a:solidFill>
              <a:srgbClr val="495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53143" y="1645920"/>
            <a:ext cx="658368" cy="658368"/>
          </a:xfrm>
          <a:prstGeom prst="ellipse">
            <a:avLst/>
          </a:prstGeom>
          <a:solidFill>
            <a:srgbClr val="4C89DC"/>
          </a:solidFill>
          <a:ln>
            <a:solidFill>
              <a:srgbClr val="4C8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3" y="179222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3" y="2542032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教师调整教学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53143" y="2944368"/>
            <a:ext cx="22677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DD8E4"/>
                </a:solidFill>
                <a:latin typeface="Microsoft YaHei"/>
              </a:rPr>
              <a:t>教师在学情分析和待办队列中定位班级共性问题。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89204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一句话总结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376672"/>
            <a:ext cx="9966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DAE4EE"/>
                </a:solidFill>
                <a:latin typeface="Microsoft YaHei"/>
              </a:rPr>
              <a:t>平台把教师侧的课程与学情管理、学生侧的学习过程、AI 侧的分析推荐串成闭环，最终服务于更精准的教学和更个性化的学习。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37376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F6F82"/>
                </a:solidFill>
                <a:latin typeface="Microsoft YaHei"/>
              </a:rPr>
              <a:t>08 / AI智慧课程平台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